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1" r:id="rId2"/>
    <p:sldId id="259" r:id="rId3"/>
    <p:sldId id="280" r:id="rId4"/>
    <p:sldId id="282" r:id="rId5"/>
    <p:sldId id="287" r:id="rId6"/>
    <p:sldId id="286" r:id="rId7"/>
    <p:sldId id="281" r:id="rId8"/>
    <p:sldId id="284" r:id="rId9"/>
    <p:sldId id="299" r:id="rId10"/>
    <p:sldId id="292" r:id="rId11"/>
    <p:sldId id="296" r:id="rId12"/>
    <p:sldId id="293" r:id="rId13"/>
    <p:sldId id="294" r:id="rId14"/>
    <p:sldId id="295" r:id="rId15"/>
    <p:sldId id="298" r:id="rId16"/>
    <p:sldId id="297" r:id="rId17"/>
    <p:sldId id="274" r:id="rId18"/>
    <p:sldId id="275" r:id="rId19"/>
    <p:sldId id="276" r:id="rId20"/>
    <p:sldId id="277" r:id="rId21"/>
    <p:sldId id="278" r:id="rId22"/>
    <p:sldId id="303" r:id="rId23"/>
    <p:sldId id="285" r:id="rId24"/>
    <p:sldId id="279" r:id="rId25"/>
    <p:sldId id="301" r:id="rId26"/>
    <p:sldId id="273" r:id="rId27"/>
    <p:sldId id="272" r:id="rId28"/>
    <p:sldId id="270" r:id="rId29"/>
    <p:sldId id="261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5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B93D1-677A-4727-ACB1-B4ED1776CBF7}" type="datetimeFigureOut">
              <a:rPr lang="vi-VN" smtClean="0"/>
              <a:t>15/12/2025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E2EB4-AAAC-4D92-8F4B-6C8B3AB9BD3F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4596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8037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43415-7EBD-A612-8A1C-EB47D1833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2404F-B406-4B93-3B6C-E7E9346A7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E2D42B-071C-F252-6B4F-4B1E242D6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3B383-1197-5B90-5491-9869AD46B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016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6FE5-5835-F215-3BF1-F551AE286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CD891-1745-3D4E-32C0-563441334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E8D24-F21D-F0F1-B43F-809B30D62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6F906-A6B3-D27E-DDF9-547245368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9625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FA186-4E97-B32C-CB95-367D51CE5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CBF99-0445-A8B4-CC30-A8EE736BD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4681A7-6397-5802-6723-19A5ADF42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0C2D1-12FB-7C63-1363-91B8CFDB7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3916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2541-DEED-BCEE-CB89-BEF6788E6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484DC5-FD32-89A5-736D-CE8B4597A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2E3A4-ACDE-BE64-9113-8D1F38A08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C0437-1D13-CE63-FA6A-FBB327927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60696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C9864-09C4-6054-51AE-EF614566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47CCC-3455-EB21-8BCD-2FE5D89A2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D74A4-0917-7F79-352A-367026DCD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E5CA7-A5B7-5F79-F8FD-B8F4C922A2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75273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E6DF9-98E7-F510-0D5F-BBCF612D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CCBDA3-4B0A-DA14-E409-F783E546D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DC791-FCFA-4470-DBFE-5DEB6A7CD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EA1BE-1AAB-B530-E513-CED8E1AFF0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54574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71C3B-60FD-F78E-A32E-F4A18C59A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5225B-C97F-EFC7-FF19-BD9B5A4EE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0390B-EEB3-B425-B18C-53FA91AFA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C4C8-4964-A2CD-4890-EBE340A1E8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63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4E520-8007-473F-1EAD-F11A63BDD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69434-C290-0358-EADD-2A95BF770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74D49-C1CE-653B-4198-1DE2391C5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A0187-9FF7-9E37-C7E5-DCF651889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13775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B3396-8EFB-AC40-C9B9-C8A02B1B0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593095-1250-74A2-8FEA-D18CDF56E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406BA-D775-5E24-CC87-01AEC7BE0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2FC894-8887-E41F-68A1-6FB66A4DF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57941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56FBD-0661-75B0-3AEB-41228248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4FB34C-BABD-A445-0976-9515A6FA9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5B446-C20E-03E4-CE1F-853F60004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A8BA3-7BBB-7A0E-05DC-BC3E0D8711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3325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9DA3-338F-F953-3358-49FAD474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F6E29-33D2-A133-68F9-BC4AAD2B3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FC116D-FEC2-2414-C630-193A317A0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E85BF-F63C-3CB4-D6A3-14CEA2DF6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15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5426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6867-6F68-B9EF-701E-FBD4BCA19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1EE5AF-4427-B6EB-2BA1-4B77AC871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AD67D-E363-F74B-B957-56B2F3304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0A3C-4E71-CF74-7374-FD218724D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72146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Achived</a:t>
            </a:r>
            <a:r>
              <a:rPr lang="en-US" dirty="0"/>
              <a:t> results:</a:t>
            </a:r>
            <a:br>
              <a:rPr lang="en-US" dirty="0"/>
            </a:br>
            <a:r>
              <a:rPr lang="en-US" dirty="0"/>
              <a:t>2. local **result** storage</a:t>
            </a:r>
          </a:p>
          <a:p>
            <a:endParaRPr lang="en-US" dirty="0"/>
          </a:p>
          <a:p>
            <a:r>
              <a:rPr lang="en-US" dirty="0"/>
              <a:t>Current limitations:</a:t>
            </a:r>
            <a:br>
              <a:rPr lang="en-US" dirty="0"/>
            </a:br>
            <a:r>
              <a:rPr lang="en-US" dirty="0"/>
              <a:t>3. which are the search feature and forage map.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72810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Either through a multi-task model or a separate specialized classifier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7E2EB4-AAAC-4D92-8F4B-6C8B3AB9BD3F}" type="slidenum">
              <a:rPr lang="vi-VN" smtClean="0"/>
              <a:t>28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5441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0713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32917" y="6481985"/>
            <a:ext cx="8961120" cy="113469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 dirty="0"/>
              <a:t>Click to add presenter | Date</a:t>
            </a:r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59C80C0-1870-FEE9-A583-DA16235CCD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14220" y="6478829"/>
            <a:ext cx="8961120" cy="11346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171C3B7-8353-DD25-5B07-10A1A6F460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4368F2-C88A-4D70-3B44-7581ADC71E2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AE119F-50AD-2187-F53D-C029A648621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19CCA49-4386-8CF5-117B-E4BFC03A736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22ECB67-A862-ED3E-EF70-A151EAE406AD}"/>
              </a:ext>
            </a:extLst>
          </p:cNvPr>
          <p:cNvSpPr txBox="1"/>
          <p:nvPr userDrawn="1"/>
        </p:nvSpPr>
        <p:spPr>
          <a:xfrm>
            <a:off x="10502962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3B8820C-ED70-91BD-0EE7-9365C8F15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89BB8B7F-E65A-2B23-CBF8-A125DD29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6870833-A090-2FC4-5912-C2D6C88612A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3A4C1548-DAF8-7811-AD5C-086ADE642C9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DF397E-0964-19E3-3D29-4BF5AE20ED6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D6A55E-FCEC-1A21-4FB9-1AF1ED781E5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1A7836A-4A30-2561-AA4B-98F38D1A9F0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4C04067-9571-D949-58CF-3A60577C57A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A4F8271-FD06-2438-CFB7-3F76D949762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CDADCF46-A404-DF10-F07D-A239C8E9440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978CCFED-7040-5747-0179-1AF652AB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98DD7559-E714-D42A-A835-F976F043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E896E5-AB0B-ABF2-F541-548D70DF16A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E7016E-5C25-89AC-E3E9-89EB47F0A81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D33B369-34FD-38B1-40F4-836D92B18F93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CF3CD0-0780-0107-D9DB-DE3A0686537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116B1A76-6786-C06A-D6C0-A0BC7A7F25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9005CE5F-4F8E-66A1-F81A-540454C06D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6E2CA9E6-1E82-4B20-FB07-FD5250BF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C97F628-B079-2940-2E4F-049E9873129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8560CBA-FB38-D549-7788-5A7F86AD1A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B756CF-635F-2E57-8722-72C3D8408D4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4B8DB-D90F-26D8-B105-AECC09EE310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95BB7A6-D4CE-39DA-0C0F-8FA03C1C389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F0C7246-1027-A415-A357-8ED6859B41A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5A1153-1465-6C9E-072E-0CB9EA95C83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63DC1F8A-1143-0496-727C-A5E2853ADB4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C79EA280-7079-2671-7431-D4C8A282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8BECDF71-9E3F-1FDA-7294-59E6E4045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C457288-A298-8307-CA3A-BCC9B567B11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A4107E3-FCC1-2FA8-940D-66942BC6AEA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AAE776-427C-454C-BFB3-E077817B15D9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0771E7-4B20-1F40-140A-4B261F8E428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CD22E2F-B2A6-D479-E446-9453ECC0398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D558C3-688C-AE5D-7773-5245FB2D1C5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C6A0FB-F699-CD35-E089-2BA15C86614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DBA8FFA0-0FBE-EFB1-2CB7-431B66DFA7A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21FF757A-9B60-2BBB-5CA6-A10C29CC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DE528345-AB37-A617-0E65-50934E1E4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84EA878-CEF8-6FB2-A540-C6A97C21EAF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A66E662-A492-8194-8ADC-3598CFA592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218C06-B8B4-2F96-C140-7BA78387F4C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0EE1EC-9EC8-D030-C6C2-5FAAFD03683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4EBD89-8FC7-F26D-23AE-AAB67F8274D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BA63AE-E9B0-994C-3D89-26F246E87C8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AD3D64-DCBC-C25B-3D52-B8EFE45118C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228C82C3-CBBB-F4F2-8ED2-54CA733BBD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1F522C1A-84E2-80A8-C6F7-B05A1C8A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4E85E39C-F5A6-84A8-D43C-44C336DD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F0BCA23-68B0-63A7-A73B-EFC23283BDC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63CD6AD-4253-51A2-A566-BB6B7D849D8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83A458-D564-08E2-48BE-8576EA6126D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71C8A4-C658-2658-0973-AA88EDE1D4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366489-BD44-2B4C-DDA0-3AD9135A43A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722696-6207-C6F8-AD0A-3AC757C034B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ED87827-8B15-2E13-32B7-99C6EC9889F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C3BA3247-1921-72DB-7520-8D4E50C990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D910A593-E300-33C3-FBE8-D93BACDD6C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D2501568-239C-83F7-5DD0-657DBF00C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86DC99-8F32-11E9-983C-B3C39D2459F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3D1BD4B-6E3C-FAF0-9C5D-40A11B8635C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0977BD-8ECF-5110-F1F4-0937C2E1125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66D88B-91F5-F3BF-F212-0F4AE14A651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DBE89AD-C6CF-2A50-8DC2-85D9791E461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D9B3C8-41F7-9472-9833-36699C4652B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AB2170-F31A-5854-12E4-933981ADDC3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CB6D149-9BC6-BE51-71B6-D144F8192F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F8523E06-FA89-E334-682A-F7E2E1F1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20FC346D-E32C-F851-0C12-1AF7BAC4E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DD19746-30EB-A83A-D21A-F1B9E16D247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92E2A0A4-5A53-F038-F5EB-BD8F1E5AFD7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F6732-8091-1AE1-6E1D-6954DC3EA4F0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A0811A-4588-6194-86AC-E194A3F1DFA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DD4FBC2-A787-B800-17C5-0A781E726CD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EFD89B-7B87-AF4F-814F-0AA460F23D1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41C4A7F-7300-21FE-EA50-16E1A5A77E9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45B877AE-7BB3-BD6D-0542-D559E200917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6016BCA3-25B1-AB94-888D-5DD70978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4DAE0421-35C8-A44D-DB29-498D0E12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56579B3-3250-5A93-A619-C502AF4378C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00BC45EF-8099-BFBE-CB9B-3D5894AB918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97C89-93B1-15A9-90AD-50C9C5302608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47C513-B9CB-E55A-A268-4D351439A6E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2BC9A06-D004-8B99-6028-4768BCA72E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DAD25D-CCE9-7A57-F420-B77E7815229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DDC1981-6459-59D5-0815-171F02D5ED1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1245F4A-AB03-5AB1-0A83-90E93017E3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FEBFB8CF-A0C2-3CAE-ED9D-44D609BD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FA38EFC-6D53-C543-BD40-EAB93D109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B3FECD7-B809-C513-A765-543A8AA0930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5F4ED96-5A50-7897-C9D3-D6C5F7F2464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5E1B64-47A0-177B-E38E-FFCB1BFB7F0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D30235-6AFE-D5FB-9E67-891624ADA5E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668F9CF-08F2-8D07-00BA-ACA2889A790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43AC87-0F13-59D7-0A50-B5018743B78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D41F68F-BF55-4FE9-5090-3BEA11863EE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671AF42-A968-E709-F974-3786306B76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05C9C037-721A-EE13-7858-CB03EA8D6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1947D90C-2FFF-4BCF-955E-477E804F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name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Cover Photo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QR Code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CF3A4AC-8C33-1F5F-4FCF-36E48B971DE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31EE6362-FF42-B158-14D7-791E563A40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BCA2BB-3905-70EA-8E3B-4C4C23F4B242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DE44E1-B632-C94B-C2E5-B6511AB5D1A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09379C1-1F55-27CD-8F20-239AEED92B4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9B14EA4-6EC6-3850-7D93-4497D01D4F9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B51D4C4-7625-4EBC-C374-BA737125147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D8720C55-B1E8-DEB6-C7AB-97941AEE105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994FD199-97C2-38C6-8106-E7B191AA6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7108A6F0-993E-B1CF-C4F9-364A0D52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"/>
          <p:cNvSpPr>
            <a:spLocks noGrp="1"/>
          </p:cNvSpPr>
          <p:nvPr>
            <p:ph type="body" idx="13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B6A1C3F-E095-6603-EB6A-4692D7DC4D7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2D484E77-EB85-6D96-B62E-324A0D7B3563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D5F61A-FC38-10EB-9F34-BDAF8DF522A3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F45F-CE0A-F387-F44D-1D30A1F7C6D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F60203-170A-C54E-4359-94613593BE2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A28C187-091A-1C47-C59F-5206838AE8E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0BE4EB-93C3-DE8A-E5FE-5F7784F916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821A8640-C550-B1AE-0B4C-F969DC9A61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0A9790D-D392-1687-4196-57E7AF2A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1B874F62-0481-F0D1-C531-35980622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 dirty="0"/>
              <a:t>Insert photo #1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#2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#3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#5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Insert photo #4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748535E-1DD2-7B67-FDAB-C062065B5FB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AD74DFB-3387-82CA-DCBC-554151885FB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2A8137-C994-2B6F-C3A5-BD9618F8FF3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78CE0C-4765-B88E-0528-CE00C820B77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13D7AA8-6FFC-F2C3-785E-062ECC4ED58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569E49A-EDDB-7575-6801-C788712B815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D4431F-E9C5-9BF5-9401-B2EFB1930B0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EC0A2792-06AE-7615-A081-77FCBDDEB3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7BD2C8B8-1DA8-CC71-639A-9C33900D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92FC2236-5102-CDC0-2E5E-2AA120B7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BE1441-A7C4-36F6-C4F4-9100027A0B6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BE4B83F-5D8C-7F33-3016-2442DC2FC17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6720DA-518E-AAAA-F408-8FD447F87015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2642A7-3527-8237-8F2D-C2631D6524D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96BAECC-4432-738B-ECBB-0057206A64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95D43E-8493-3BB9-29D7-930B3183397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389D17-E10E-30AC-A150-DCEE1AD6D3A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37F936C-906B-25E9-11BB-6DA34ADC423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E8D7227-1155-98FF-5470-13137C4AC5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F8CD56B0-3886-6989-B381-59404EB87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FA4B3AA-22E9-7751-468B-D7808BAF44B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747DA11-94E3-B2DA-114B-E1D69C75BE6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D6C4A-F51A-64E8-8A49-49C141862BBC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9645F9-6CC7-6F42-6379-6F00AB90708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E0E806-C242-0D32-B65D-E8E53A33CDA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E01F7E8-B82D-3942-44A2-8312FA5A492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A922989-8C7F-DE1C-F9DB-3819FD7E31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ADE44CC-E174-8BE4-0522-DD862811ED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3" name="Date Placeholder 3">
            <a:extLst>
              <a:ext uri="{FF2B5EF4-FFF2-40B4-BE49-F238E27FC236}">
                <a16:creationId xmlns:a16="http://schemas.microsoft.com/office/drawing/2014/main" id="{9DE29959-9E0B-0A99-71BE-E27767F0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F607A11D-8A45-DFF7-EE6E-2CD55230B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32772FD-D424-B383-49DC-161E8C8DFF5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5574E33-7FA3-EB5A-07DA-B0D592DE755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D0B717-8345-25F8-2957-47BBC585EC0F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1ED58-20F8-A968-3866-C42E815D154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F877E4-63EA-ACE6-E342-DC584FC089F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E9476C-9B90-B9D1-4C52-6CA3CA8EC91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E388C27-8095-81DC-7EE3-CCEF9DECDE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BDAE94A-EB44-AF0F-9F35-A4791C430EB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2189598B-13E1-FDF8-9B2D-1A850E76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5DDB4F9D-2C19-583B-3A9D-50BA2EC5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5AEB09C-7C0D-C0E3-7B98-21C40CB9A184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0832186-EAAB-4BE8-90C4-6BC4D82856C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9693BE-FF51-213B-F8C5-08BD83810D46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185E88-EE79-628D-B92A-D7691650663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37B433-287E-7247-5AB4-57A8A9309D0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C13FAF-24C8-411A-86C1-49DA84B86D1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874890-26DA-8C8C-6D51-799D76D3804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016BB26A-88E2-E41F-A0CD-D9C042B6237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76FEF495-01CA-8881-23CF-4596A08A27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1BCCF94D-F923-D87D-7129-CC43A7BA4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9919531-5790-1B13-2BBC-E44A0729F8B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C6611E1-0E92-CFBF-33DE-3FE881954955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DC3AD-682C-96BE-4565-69E8B40A78DA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E3977B-8545-D9C4-3AAB-28F9DD6F3DF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E7BC02-C481-879F-5E13-66665A95668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0FDD4A-0B65-E851-C888-C3E4747E68E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9020A6-9AE4-1C5E-2382-92C731256B0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77D4506D-DA98-1098-1F12-442ACBBE5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5DF6567C-9B56-05C1-4116-2F8FE0DF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E0C7BC1C-FD72-64C1-CD8B-807BA95B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A2A218B-FD80-D9A9-A563-EDD66C447C97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D18193-6D41-7E8F-A381-F645A445BD8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DE44E-0F54-4683-B3FC-23CC354865C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19DC06-DF8A-8075-CDF6-1D816B36D85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9F593B-7FEA-F5D2-C5B2-F34F4F27CD9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86CB8E-6A41-6224-EDAA-82C150F4F1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65016A6-8328-D979-F3B1-3699FE7C12D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1883C3A-31E7-5C99-C60E-FB33D489FE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AAF4B286-E3B1-4602-9B2B-E971F31B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D23BE6BC-821E-A5D1-30D2-E3CB2214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82EDF61-0E98-DA36-3E26-D168E759754A}"/>
              </a:ext>
            </a:extLst>
          </p:cNvPr>
          <p:cNvSpPr/>
          <p:nvPr userDrawn="1"/>
        </p:nvSpPr>
        <p:spPr>
          <a:xfrm>
            <a:off x="11537004" y="6559299"/>
            <a:ext cx="340536" cy="17037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F5C25A6-8095-6AF2-C9C3-8CD0FED2FB3C}"/>
              </a:ext>
            </a:extLst>
          </p:cNvPr>
          <p:cNvSpPr txBox="1">
            <a:spLocks/>
          </p:cNvSpPr>
          <p:nvPr userDrawn="1"/>
        </p:nvSpPr>
        <p:spPr>
          <a:xfrm>
            <a:off x="11471662" y="6458314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DB983B-0A91-69E0-195A-772E71561D24}"/>
              </a:ext>
            </a:extLst>
          </p:cNvPr>
          <p:cNvSpPr txBox="1"/>
          <p:nvPr userDrawn="1"/>
        </p:nvSpPr>
        <p:spPr>
          <a:xfrm>
            <a:off x="10124841" y="6467839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DADC743-2431-45F2-79E2-121CA7F2806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33270" y="6478829"/>
            <a:ext cx="8961120" cy="113469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79887EFC-47B1-9E40-0D8C-00E95C29EF5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EE3C0DB-B1FC-4FD9-6D12-4A8C131EE2D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806F485-7B56-F41A-BB6F-3E9B7BF9AD6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A13944-4F33-47EC-96FA-50BC12ED342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57" name="Date Placeholder 3">
            <a:extLst>
              <a:ext uri="{FF2B5EF4-FFF2-40B4-BE49-F238E27FC236}">
                <a16:creationId xmlns:a16="http://schemas.microsoft.com/office/drawing/2014/main" id="{B137584B-E513-D305-AC1C-9A6C3A36A5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58" name="Footer Placeholder 4">
            <a:extLst>
              <a:ext uri="{FF2B5EF4-FFF2-40B4-BE49-F238E27FC236}">
                <a16:creationId xmlns:a16="http://schemas.microsoft.com/office/drawing/2014/main" id="{5F1F2948-EE2B-7B83-70EC-1CA44DC0D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97AF6527-BFE4-537E-1308-488B162949B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66896" y="6488271"/>
            <a:ext cx="8961120" cy="1133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E5CACFF-45E7-55D3-E5A5-653F2B8017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4E5C97-2B57-9E5D-764D-87DE472CB901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E5E75459-D4C7-9354-A931-B335C406F5A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D0EE6BD-EFE1-AFBA-1E5F-9B64FFE8B6B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1249A6-9C2C-8AA9-7B4D-3B74EC7BB0E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2B3CAD9-FCD5-AB71-2E3E-03FCB768FF8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4E90919-B9E0-2168-DD97-F4BCD8260673}"/>
              </a:ext>
            </a:extLst>
          </p:cNvPr>
          <p:cNvSpPr txBox="1"/>
          <p:nvPr userDrawn="1"/>
        </p:nvSpPr>
        <p:spPr>
          <a:xfrm>
            <a:off x="10099117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E2A85561-D248-4BA0-93D1-F7F0B4A9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7" name="Footer Placeholder 4">
            <a:extLst>
              <a:ext uri="{FF2B5EF4-FFF2-40B4-BE49-F238E27FC236}">
                <a16:creationId xmlns:a16="http://schemas.microsoft.com/office/drawing/2014/main" id="{B2E66308-078F-2D9B-D872-3883B077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87B9FD-C79A-8EEC-DA77-0430594CE6F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04660008-7F5F-0A11-964B-A878CD65CF3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F9D2699-A975-3955-567E-8D16A284D731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3125F0-F340-CFA8-92F8-610235DCCCF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C743FA-D9C9-C6C2-44F3-7300A846F325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E68D7F-2272-301E-994D-57A01621A8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08B4A4-84FB-D350-B610-3F768FCC3D0F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77AB56C-52A9-72A6-BE5C-712FF50C35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03EA8419-42D3-1B00-055A-95A63C38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0485261C-7BF5-B42D-297D-A35E47524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7C2E8D-A219-06CC-DDED-60563052D40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8339483-E992-0B16-C57C-FCA2197AF14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01984B-E435-DF86-91C0-A34A6136DB54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AE826F-6D23-1C12-4C77-DD6D4A76090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DD13BBB-17CE-445B-C2C2-2254F68DEBA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1CBAEE-DB37-69A6-C83C-9ED0BC3403D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28E06ED-9C8D-C1F3-B2C1-7E82A3E89B4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2282D43-F19B-36CA-D127-B9AFE4A33DA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34" name="Date Placeholder 3">
            <a:extLst>
              <a:ext uri="{FF2B5EF4-FFF2-40B4-BE49-F238E27FC236}">
                <a16:creationId xmlns:a16="http://schemas.microsoft.com/office/drawing/2014/main" id="{C09A338B-CA30-F0C4-C424-A777C06D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35" name="Footer Placeholder 4">
            <a:extLst>
              <a:ext uri="{FF2B5EF4-FFF2-40B4-BE49-F238E27FC236}">
                <a16:creationId xmlns:a16="http://schemas.microsoft.com/office/drawing/2014/main" id="{A540C5A9-41E2-BA3D-15CF-D5824BC7E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Subtitle 2"/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6C50603-7118-372F-6CD8-67B3EA4744CC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6F76C3E-CA40-066E-6D9B-DDC46B954A8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87986D-55B9-3A95-61F3-24E53EB2E71B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3DF21-9E95-D191-1729-A6BD31DA188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2303C9-325E-4679-0C55-AA4CC39727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2D0F45-9137-6A7D-28A8-9A3BC979E4E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045F73-3B00-AF17-A81A-929B412EAF3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7B47963-B402-88E5-A96F-E4D6CF5D437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4F74441E-7CED-96FA-08FA-C1E6108795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8" name="Footer Placeholder 4">
            <a:extLst>
              <a:ext uri="{FF2B5EF4-FFF2-40B4-BE49-F238E27FC236}">
                <a16:creationId xmlns:a16="http://schemas.microsoft.com/office/drawing/2014/main" id="{C7022278-3B3F-6183-1CA9-35D3E0A0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sp>
        <p:nvSpPr>
          <p:cNvPr id="18" name="Picture Placeholder 1"/>
          <p:cNvSpPr>
            <a:spLocks noGrp="1"/>
          </p:cNvSpPr>
          <p:nvPr>
            <p:ph type="pic" sz="quarter" idx="15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917F0B-3CB7-E0EA-BFAE-20D511EF880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08F28A-ACB2-6E48-D5E6-03F24C7118A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FF86E4-C720-0B16-79A3-87981D57083D}"/>
              </a:ext>
            </a:extLst>
          </p:cNvPr>
          <p:cNvSpPr txBox="1"/>
          <p:nvPr userDrawn="1"/>
        </p:nvSpPr>
        <p:spPr>
          <a:xfrm>
            <a:off x="1007816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A5A958-3EF5-C954-1BDD-5C44193C42DD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75DDA0-8FC0-DB37-99A8-55D3DD65ED4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A32-AF7C-F862-F2DF-150884F9200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Community - Totality - Uniqueness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F054695-BD09-A212-CA6E-A1D366705588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CAN THO UNIVERSITY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DA22685-D3D5-AF13-9F3C-2983763EFF5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51205" y="6481985"/>
            <a:ext cx="8961120" cy="113469"/>
          </a:xfrm>
          <a:prstGeom prst="rect">
            <a:avLst/>
          </a:prstGeom>
        </p:spPr>
      </p:pic>
      <p:sp>
        <p:nvSpPr>
          <p:cNvPr id="23" name="Date Placeholder 3">
            <a:extLst>
              <a:ext uri="{FF2B5EF4-FFF2-40B4-BE49-F238E27FC236}">
                <a16:creationId xmlns:a16="http://schemas.microsoft.com/office/drawing/2014/main" id="{FB4B915C-60A3-0B79-5905-5A42CE54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15-Dec-25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B38F3282-08F4-E668-5916-6C6A00B13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683CFCA1-DA12-C6FE-EFA3-0063CCBE582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15-Dec-25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C82-E165-4291-296C-0B6D29685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1371600"/>
            <a:ext cx="11205713" cy="1517155"/>
          </a:xfrm>
        </p:spPr>
        <p:txBody>
          <a:bodyPr>
            <a:normAutofit/>
          </a:bodyPr>
          <a:lstStyle/>
          <a:p>
            <a:r>
              <a:rPr lang="vi-VN" sz="2400" dirty="0"/>
              <a:t>CAN THO UNIVERSITY</a:t>
            </a:r>
            <a:br>
              <a:rPr lang="vi-VN" sz="2400" dirty="0"/>
            </a:br>
            <a:r>
              <a:rPr lang="vi-VN" sz="2400" dirty="0"/>
              <a:t>SCHOOL OF INFORMATION </a:t>
            </a:r>
            <a:r>
              <a:rPr lang="en-US" sz="2400" dirty="0"/>
              <a:t>&amp; COMMUNICATION TECHNOLOGY</a:t>
            </a:r>
            <a:br>
              <a:rPr lang="en-US" sz="2400" dirty="0"/>
            </a:br>
            <a:r>
              <a:rPr lang="en-US" sz="2400" dirty="0"/>
              <a:t>INFORMATION TECHNOLOGY HIGH-QUALITY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AB227C-F72B-0A3A-1BA0-B974084F3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143" y="3063240"/>
            <a:ext cx="11205713" cy="179497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GRADUATION THESIS</a:t>
            </a:r>
          </a:p>
          <a:p>
            <a:endParaRPr lang="en-US" sz="1000" b="1" dirty="0"/>
          </a:p>
          <a:p>
            <a:r>
              <a:rPr lang="en-US" b="1" dirty="0"/>
              <a:t>DEVELOPING A MUSHROOM IDENTIFICATION </a:t>
            </a:r>
          </a:p>
          <a:p>
            <a:r>
              <a:rPr lang="en-US" b="1" dirty="0"/>
              <a:t>APPLICATION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2249C-51C8-C10F-ACF3-9A8B868F97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93143" y="4978568"/>
            <a:ext cx="11205713" cy="791296"/>
          </a:xfrm>
        </p:spPr>
        <p:txBody>
          <a:bodyPr/>
          <a:lstStyle/>
          <a:p>
            <a:r>
              <a:rPr lang="en-US" b="1" dirty="0"/>
              <a:t>Advisor: </a:t>
            </a:r>
            <a:r>
              <a:rPr lang="en-US" dirty="0"/>
              <a:t>Dr. Bùi Võ Quốc Bảo</a:t>
            </a:r>
          </a:p>
          <a:p>
            <a:r>
              <a:rPr lang="en-US" b="1" dirty="0"/>
              <a:t>Student: </a:t>
            </a:r>
            <a:r>
              <a:rPr lang="en-US" dirty="0"/>
              <a:t>Nguyễn Quang Vinh (B2105727)</a:t>
            </a:r>
          </a:p>
        </p:txBody>
      </p:sp>
    </p:spTree>
    <p:extLst>
      <p:ext uri="{BB962C8B-B14F-4D97-AF65-F5344CB8AC3E}">
        <p14:creationId xmlns:p14="http://schemas.microsoft.com/office/powerpoint/2010/main" val="260309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Content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B3A4D-EB59-4245-BACF-15AE3A78B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1: Introduction</a:t>
            </a:r>
          </a:p>
          <a:p>
            <a:r>
              <a:rPr lang="en-US" dirty="0"/>
              <a:t>Part 2: Theoretical basis &amp; systems analysis</a:t>
            </a:r>
          </a:p>
          <a:p>
            <a:r>
              <a:rPr lang="en-US" dirty="0"/>
              <a:t>Part 3: Implementation</a:t>
            </a:r>
          </a:p>
          <a:p>
            <a:r>
              <a:rPr lang="en-US" dirty="0"/>
              <a:t>Part 4: Conclusion</a:t>
            </a:r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5A774-A6E2-A310-DB6A-36A07427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211D-7A43-8E5D-ED9E-DFC6F208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Part 1: Introduction</a:t>
            </a:r>
          </a:p>
        </p:txBody>
      </p:sp>
    </p:spTree>
    <p:extLst>
      <p:ext uri="{BB962C8B-B14F-4D97-AF65-F5344CB8AC3E}">
        <p14:creationId xmlns:p14="http://schemas.microsoft.com/office/powerpoint/2010/main" val="4232657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1E76-A685-C036-83C7-E30507C6D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5A5E-8538-00C1-E08F-02503B94A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1.1. Problem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C4CF9-1556-4BBE-F9DB-55C79B1AA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Mushroom identification is difficult for beginners due to subtle similarities.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Traditional methods require prior knowledge and are prone to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Misidentification can cause serious health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Growing interest in foraging has increased demand for reliable, accessible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Existing digital solutions are often limited by high cost or restrictive freemium models.</a:t>
            </a:r>
          </a:p>
        </p:txBody>
      </p:sp>
    </p:spTree>
    <p:extLst>
      <p:ext uri="{BB962C8B-B14F-4D97-AF65-F5344CB8AC3E}">
        <p14:creationId xmlns:p14="http://schemas.microsoft.com/office/powerpoint/2010/main" val="3978142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E3A85-4129-057B-6B13-47EE75A96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298B-1C92-C439-0605-1BC1CD60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1.2. Purpose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5C8D7-2DA7-F4F6-1272-895F061CE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Develop a beginner friendly Android app for safe mushroom identification that support safe foraging practices and self-learning.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Provide real time image recognition using a server-side model with local result storage.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Include a keyword-searchable mushroom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 an interactive forage map using iNaturalist community observations.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130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84C74-72E0-042F-9D28-B555A48E0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E264F-2157-DA18-EBAB-BC2F5F3DF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1.3. 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DA986-CA72-2A75-3895-0456EC246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an app that delivers reliable AI-based identification.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Design a fast client server architecture with intuitive UI/UX.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Combine image inference, search, history, and map features.</a:t>
            </a:r>
          </a:p>
          <a:p>
            <a:r>
              <a:rPr lang="en-US" b="1" dirty="0"/>
              <a:t>Scope: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Android app using Flutter, server inference via PyTorch + Lightning.ai.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Local SQLite storage and a bundled JSON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Integration of iNaturalist API.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20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E205-4FC7-55D3-AC2F-4CB0AEFD1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A1A1C-6A60-40F5-E8B7-912C3032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567" y="2601119"/>
            <a:ext cx="10029565" cy="1655762"/>
          </a:xfrm>
        </p:spPr>
        <p:txBody>
          <a:bodyPr/>
          <a:lstStyle/>
          <a:p>
            <a:r>
              <a:rPr lang="en-US" sz="6000" dirty="0"/>
              <a:t>Part 2: Theoretical basis &amp; systems analysis</a:t>
            </a:r>
          </a:p>
        </p:txBody>
      </p:sp>
    </p:spTree>
    <p:extLst>
      <p:ext uri="{BB962C8B-B14F-4D97-AF65-F5344CB8AC3E}">
        <p14:creationId xmlns:p14="http://schemas.microsoft.com/office/powerpoint/2010/main" val="300891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A4504-EDCB-A1C7-48D8-FF95A3C7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B619-5827-08B3-7CAF-0AC026DA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2.1. Key Technologies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BED76-3C30-8E02-5102-27B08E313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Flutter/Dart</a:t>
            </a:r>
            <a:r>
              <a:rPr lang="en-US" dirty="0"/>
              <a:t>: Cross-platform UI framework for fast Android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SQLite + JSON</a:t>
            </a:r>
            <a:r>
              <a:rPr lang="en-US" dirty="0"/>
              <a:t>: Local data storage and offline mushroom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OpenStreetMap + iNaturalist API</a:t>
            </a:r>
            <a:r>
              <a:rPr lang="en-US" dirty="0"/>
              <a:t>: Interactive map and community observations.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PyTorch + Transformers</a:t>
            </a:r>
            <a:r>
              <a:rPr lang="en-US" dirty="0"/>
              <a:t>: Training, deploying, and serving the ViT model.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FastAPI + LitServe (Lightning.ai)</a:t>
            </a:r>
            <a:r>
              <a:rPr lang="en-US" dirty="0"/>
              <a:t>: High-performance API layer for inference.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0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302F-2E3A-0B18-A55E-29D4E3309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5624-1CA7-765B-EB72-63043428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2.2. Vision Transformer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AC88-4913-68CD-4E45-70F0D66C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Google/vit-base-patch16-224-in21k </a:t>
            </a:r>
            <a:r>
              <a:rPr lang="en-US" dirty="0"/>
              <a:t>(Pre-trained on ImageNet-21k)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Higher accuracy than ResNet-50, EfficientNet, and MobileNet on our mushroom dataset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dirty="0"/>
              <a:t>Perfect for subtle details and complex textures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2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A65E1-EB57-33D4-5329-EF6A85BA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39BB-25A5-5039-2D7E-5600DB53C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2.3. Dataset &amp;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832EA-0B63-F12C-823F-D322ADA0A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Dataset</a:t>
            </a:r>
            <a:r>
              <a:rPr lang="en-US" dirty="0"/>
              <a:t>: 80 classes × 200 images each (16,000 total).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Sources</a:t>
            </a:r>
            <a:r>
              <a:rPr lang="en-US" dirty="0"/>
              <a:t>: iNaturalist, Kaggle, WildFoodUK, blogs.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Splits</a:t>
            </a:r>
            <a:r>
              <a:rPr lang="en-US" dirty="0"/>
              <a:t>: 80% training, 10% validation, 10% test.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Augmentation</a:t>
            </a:r>
            <a:r>
              <a:rPr lang="en-US" dirty="0"/>
              <a:t>: flips, rotate, brightness/contrast, hue/saturation, blur, noise, dropout.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4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57E2-2508-1741-5796-588B04983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2833D-6189-C225-B32F-74230D48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2.4. System Architecture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2FD50-629A-D1D1-585A-C5E7813EC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15" y="1733600"/>
            <a:ext cx="8347076" cy="43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704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675CB-3A0E-2913-E87E-30F84617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C7CE-59C8-5F34-DDEB-9AAA03E3A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2.5. Use Case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B1829-292D-839A-9F32-1DD59350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214" y="1537222"/>
            <a:ext cx="8235569" cy="457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78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82907-B227-2A14-138C-335CE049C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D38D4-0114-CEE7-414C-D4D11438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Main System Workflows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48E814-CCB2-0F07-8516-8835C5C8F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210" y="1477568"/>
            <a:ext cx="369068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0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FB9EF-BBF2-8C9F-0D5E-BB4847D8A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70AF-AD4D-B5DF-BDE6-606F46AD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Main System Workflows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C39D5D-4E22-734E-0986-117BBD116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729" y="1387340"/>
            <a:ext cx="7056311" cy="476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85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A32F1-EDE5-DF54-6A34-BDE1B4D6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DC40-781E-C0F4-3098-17509150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Main System Workflows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5DF38-472E-38BD-025C-23B1AFBE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92" y="1325880"/>
            <a:ext cx="2503615" cy="489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9685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B0C2A-3594-D1A5-8216-5DD2C3E7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856B5-E8E9-ACC5-2A0C-B0FEC126E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2.6. Main System Workflows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CC5329-F03B-8F37-62CE-90F839477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3" y="1477568"/>
            <a:ext cx="2618233" cy="488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4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B9B4-D5AC-586A-3338-5EB4D7A2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CEE4-2686-7CCC-6CF8-13233FBFB5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Part 3: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2643554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A3830-8E7C-D348-499E-411624CFA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4D61C-15EB-BD3C-BA05-92C1D2606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UI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B73E7-E328-EC9A-AFA5-63970123C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91" y="1253905"/>
            <a:ext cx="2438740" cy="50108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13E5F31-9636-5700-8C62-BB8C34DA4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380" y="1206274"/>
            <a:ext cx="2514879" cy="50680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4DAB63-94CC-519F-80FE-82A4CD5C9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208" y="1196748"/>
            <a:ext cx="2481699" cy="5068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B822AB-8CAE-4A39-3E4F-539A52FE8B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56" y="1196747"/>
            <a:ext cx="2495898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07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0A95D-7449-8411-C9CD-C0A4DD7F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D1BA-C836-EE3B-694B-F0E37731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UI Implementation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5E7065-CC08-1CD3-4AC6-05F0E499B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630" y="1292011"/>
            <a:ext cx="2438740" cy="49822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E8DD7B-56C7-5953-4602-EC7D1E94C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425" y="1258668"/>
            <a:ext cx="2524477" cy="5020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E1B147A-0C79-C5D3-6F1E-B3C48885F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1059" y="1263432"/>
            <a:ext cx="2486372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72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C9BD9-267C-DA7E-5C53-3523265BB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24890-0ED0-4E85-0564-8F1949F1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UI Implementation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9772C4-FC63-794A-F104-90FF2F66B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859" y="1259432"/>
            <a:ext cx="2429214" cy="50203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DF0AC-D880-3F08-9DAE-B9E97A785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348" y="1225326"/>
            <a:ext cx="2457793" cy="5048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171769A-554D-0FD2-F5C2-BA4CBA2EE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242" y="1258668"/>
            <a:ext cx="2486372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4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C7BBF-041F-B164-21EC-805ED609C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22E7-0D11-564D-7DD9-D6EECB72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3.1. UI Implementation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F73263-F735-26F2-EAE5-569160DBA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822" y="1244378"/>
            <a:ext cx="2467319" cy="501084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656FAC5-4E35-E7EF-7F38-C3D57A655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242" y="1268194"/>
            <a:ext cx="2514951" cy="5039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3F5F15-323A-9242-BF3A-0424041F7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294" y="1234851"/>
            <a:ext cx="2505425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740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75359-346D-3DD0-1733-095C88381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3877-45FE-0949-5D12-36B2B3D8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3.2. AI Model Implementation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E3210F-AB6D-5806-58C3-EE7522CBE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FUCK I FORGOT TO ADD THE METRIC I FORGOT TO ADD THE METRIC TO MEASURE THIS FUCKING GARBAGE</a:t>
            </a:r>
          </a:p>
        </p:txBody>
      </p:sp>
    </p:spTree>
    <p:extLst>
      <p:ext uri="{BB962C8B-B14F-4D97-AF65-F5344CB8AC3E}">
        <p14:creationId xmlns:p14="http://schemas.microsoft.com/office/powerpoint/2010/main" val="2889026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2A91-B7C9-FBDD-F4F6-02EB0DD80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04B7-7ABA-5B69-3D45-A6FD163A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3.2. AI Model Implementation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1F4BF7F-9435-56A2-2A81-A5122675D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420185"/>
              </p:ext>
            </p:extLst>
          </p:nvPr>
        </p:nvGraphicFramePr>
        <p:xfrm>
          <a:off x="2189205" y="2391736"/>
          <a:ext cx="7813590" cy="20745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2362">
                  <a:extLst>
                    <a:ext uri="{9D8B030D-6E8A-4147-A177-3AD203B41FA5}">
                      <a16:colId xmlns:a16="http://schemas.microsoft.com/office/drawing/2014/main" val="4012711610"/>
                    </a:ext>
                  </a:extLst>
                </a:gridCol>
                <a:gridCol w="1562362">
                  <a:extLst>
                    <a:ext uri="{9D8B030D-6E8A-4147-A177-3AD203B41FA5}">
                      <a16:colId xmlns:a16="http://schemas.microsoft.com/office/drawing/2014/main" val="3860952815"/>
                    </a:ext>
                  </a:extLst>
                </a:gridCol>
                <a:gridCol w="1562362">
                  <a:extLst>
                    <a:ext uri="{9D8B030D-6E8A-4147-A177-3AD203B41FA5}">
                      <a16:colId xmlns:a16="http://schemas.microsoft.com/office/drawing/2014/main" val="425341877"/>
                    </a:ext>
                  </a:extLst>
                </a:gridCol>
                <a:gridCol w="1563252">
                  <a:extLst>
                    <a:ext uri="{9D8B030D-6E8A-4147-A177-3AD203B41FA5}">
                      <a16:colId xmlns:a16="http://schemas.microsoft.com/office/drawing/2014/main" val="2034881795"/>
                    </a:ext>
                  </a:extLst>
                </a:gridCol>
                <a:gridCol w="1563252">
                  <a:extLst>
                    <a:ext uri="{9D8B030D-6E8A-4147-A177-3AD203B41FA5}">
                      <a16:colId xmlns:a16="http://schemas.microsoft.com/office/drawing/2014/main" val="1021626201"/>
                    </a:ext>
                  </a:extLst>
                </a:gridCol>
              </a:tblGrid>
              <a:tr h="52719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Model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Macro-Averaged Precision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Macro-Averaged Recall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Macro-Averaged F1 Score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Macro-Averaged AUC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3809424"/>
                  </a:ext>
                </a:extLst>
              </a:tr>
              <a:tr h="1757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ViT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0.89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0.998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0034942"/>
                  </a:ext>
                </a:extLst>
              </a:tr>
              <a:tr h="175732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ResNet-50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0.997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0633010"/>
                  </a:ext>
                </a:extLst>
              </a:tr>
              <a:tr h="3514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EfficientNetB4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0.83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0.996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5396875"/>
                  </a:ext>
                </a:extLst>
              </a:tr>
              <a:tr h="35146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>
                          <a:effectLst/>
                        </a:rPr>
                        <a:t>MobileNetV3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0.82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>
                          <a:effectLst/>
                        </a:rPr>
                        <a:t>0.82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dirty="0">
                          <a:effectLst/>
                        </a:rPr>
                        <a:t>0.995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2403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064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9BC7D-BE0F-1758-A158-4EB0898F9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F2EBE-CECA-E5D4-562B-5D855B0FD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3.2. AI Model 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0451C-8AF5-3A88-62C8-35FF905F7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313" y="1618932"/>
            <a:ext cx="5249723" cy="40430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B71698-2F97-9ADC-8FA2-A833C9E8D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64" y="1618932"/>
            <a:ext cx="5196206" cy="404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824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3C3-B0A6-8CAD-CDF0-1B7222724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FEAF-7CF2-C4FF-8113-EEFCF5252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3.2. AI Model Implementation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287B1-B112-7A50-0521-992762F7E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568" y="1477568"/>
            <a:ext cx="6266863" cy="469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449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12FB0-38EA-B7AE-6833-E20CBB77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16FC7-E2DE-3426-A10C-73C2DDF09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/>
              <a:t>Part 4: Conclusion</a:t>
            </a:r>
          </a:p>
        </p:txBody>
      </p:sp>
    </p:spTree>
    <p:extLst>
      <p:ext uri="{BB962C8B-B14F-4D97-AF65-F5344CB8AC3E}">
        <p14:creationId xmlns:p14="http://schemas.microsoft.com/office/powerpoint/2010/main" val="2957257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8F7E-9D6F-2120-E78A-477783B5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1780-2A4A-44E1-B4F7-2BDAA9B60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noProof="0" dirty="0"/>
              <a:t>4.1. Achieved Results &amp;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D77B8-8BAF-9CFD-1DC5-392E71D52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noProof="0" dirty="0"/>
              <a:t>ACHIVED RESULTS: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Developed a </a:t>
            </a:r>
            <a:r>
              <a:rPr lang="en-US" dirty="0"/>
              <a:t>beginner-friendly Android app for mushroom identification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Real-Time image </a:t>
            </a:r>
            <a:r>
              <a:rPr lang="en-US" dirty="0"/>
              <a:t>recognition using a server-side ViT model with local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Keyword search powered by a bundled JSON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Interactable map integrated with iNaturalist API.</a:t>
            </a:r>
            <a:endParaRPr lang="en-US" noProof="0" dirty="0"/>
          </a:p>
          <a:p>
            <a:r>
              <a:rPr lang="en-US" b="1" noProof="0" dirty="0"/>
              <a:t>CURRENT 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Limited and undiversified training data</a:t>
            </a:r>
            <a:r>
              <a:rPr lang="en-US" dirty="0"/>
              <a:t>, </a:t>
            </a:r>
            <a:r>
              <a:rPr lang="en-US" noProof="0" dirty="0"/>
              <a:t>overfitting not fully mitigated.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The current ViT model has yet achieved desired accuracy on all classes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noProof="0" dirty="0"/>
              <a:t>Some features remain incomplete or underdeveloped</a:t>
            </a:r>
            <a:endParaRPr lang="en-US" b="1" noProof="0" dirty="0"/>
          </a:p>
          <a:p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141350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B4DBD-D3A4-447B-30DD-2B40A65A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1CDB-ABEF-CC2D-41A1-248B0337A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4.2. Development Direction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E5643-BF72-C87F-968B-05148AC42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DEVELOPMENT DIRECTION: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noProof="0" dirty="0"/>
              <a:t>Expand recognition to more wild edibles using multi-task or speciated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 larger ViT variants for higher reliability.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Increase and improve the dataset and augmentation to reduce overfitting.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Upgrade keyword search to a natural-language chatbot with a small LLM.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Add iNaturalist user-contributed observations to enrich the forage map.</a:t>
            </a:r>
          </a:p>
        </p:txBody>
      </p:sp>
    </p:spTree>
    <p:extLst>
      <p:ext uri="{BB962C8B-B14F-4D97-AF65-F5344CB8AC3E}">
        <p14:creationId xmlns:p14="http://schemas.microsoft.com/office/powerpoint/2010/main" val="26850692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vi-VN" dirty="0"/>
              <a:t>THANK YOU VERY MUCH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vi-VN" dirty="0"/>
              <a:t>Can Tho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5407</TotalTime>
  <Words>732</Words>
  <Application>Microsoft Office PowerPoint</Application>
  <PresentationFormat>Widescreen</PresentationFormat>
  <Paragraphs>130</Paragraphs>
  <Slides>29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Aptos</vt:lpstr>
      <vt:lpstr>Arial</vt:lpstr>
      <vt:lpstr>Barlow</vt:lpstr>
      <vt:lpstr>Courier New</vt:lpstr>
      <vt:lpstr>K2D</vt:lpstr>
      <vt:lpstr>Readex Pro</vt:lpstr>
      <vt:lpstr>Times New Roman</vt:lpstr>
      <vt:lpstr>Office Theme</vt:lpstr>
      <vt:lpstr>CAN THO UNIVERSITY SCHOOL OF INFORMATION &amp; COMMUNICATION TECHNOLOGY INFORMATION TECHNOLOGY HIGH-QUALITY PROGRAM</vt:lpstr>
      <vt:lpstr>Content</vt:lpstr>
      <vt:lpstr>Part 1: Introduction</vt:lpstr>
      <vt:lpstr>1.1. Problem Description</vt:lpstr>
      <vt:lpstr>1.2. Purpose of the Study</vt:lpstr>
      <vt:lpstr>1.3. Objectives &amp; Scope</vt:lpstr>
      <vt:lpstr>Part 2: Theoretical basis &amp; systems analysis</vt:lpstr>
      <vt:lpstr>2.1. Key Technologies </vt:lpstr>
      <vt:lpstr>2.2. Vision Transformer Model</vt:lpstr>
      <vt:lpstr>2.3. Dataset &amp; Augmentation</vt:lpstr>
      <vt:lpstr>2.4. System Architecture Overview</vt:lpstr>
      <vt:lpstr>2.5. Use Case Overview</vt:lpstr>
      <vt:lpstr>2.6. Main System Workflows</vt:lpstr>
      <vt:lpstr>2.6. Main System Workflows</vt:lpstr>
      <vt:lpstr>2.6. Main System Workflows</vt:lpstr>
      <vt:lpstr>2.6. Main System Workflows</vt:lpstr>
      <vt:lpstr>Part 3: Implementation</vt:lpstr>
      <vt:lpstr>3.1. UI Implementation</vt:lpstr>
      <vt:lpstr>3.1. UI Implementation</vt:lpstr>
      <vt:lpstr>3.1. UI Implementation</vt:lpstr>
      <vt:lpstr>3.1. UI Implementation</vt:lpstr>
      <vt:lpstr>3.2. AI Model Implementation</vt:lpstr>
      <vt:lpstr>3.2. AI Model Implementation</vt:lpstr>
      <vt:lpstr>3.2. AI Model Implementation</vt:lpstr>
      <vt:lpstr>3.2. AI Model Implementation</vt:lpstr>
      <vt:lpstr>Part 4: Conclusion</vt:lpstr>
      <vt:lpstr>4.1. Achieved Results &amp; Limitations </vt:lpstr>
      <vt:lpstr>4.2. Development Direction </vt:lpstr>
      <vt:lpstr>THANK YOU VERY MUCH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ASUS</cp:lastModifiedBy>
  <cp:revision>408</cp:revision>
  <dcterms:created xsi:type="dcterms:W3CDTF">2022-07-01T08:15:51Z</dcterms:created>
  <dcterms:modified xsi:type="dcterms:W3CDTF">2025-12-15T10:29:53Z</dcterms:modified>
</cp:coreProperties>
</file>