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296" r:id="rId12"/>
    <p:sldId id="293" r:id="rId13"/>
    <p:sldId id="294" r:id="rId14"/>
    <p:sldId id="295" r:id="rId15"/>
    <p:sldId id="298" r:id="rId16"/>
    <p:sldId id="297" r:id="rId17"/>
    <p:sldId id="274" r:id="rId18"/>
    <p:sldId id="275" r:id="rId19"/>
    <p:sldId id="276" r:id="rId20"/>
    <p:sldId id="277" r:id="rId21"/>
    <p:sldId id="278" r:id="rId22"/>
    <p:sldId id="285" r:id="rId23"/>
    <p:sldId id="279" r:id="rId24"/>
    <p:sldId id="301" r:id="rId25"/>
    <p:sldId id="273" r:id="rId26"/>
    <p:sldId id="272" r:id="rId27"/>
    <p:sldId id="270" r:id="rId28"/>
    <p:sldId id="26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4673" autoAdjust="0"/>
  </p:normalViewPr>
  <p:slideViewPr>
    <p:cSldViewPr snapToGrid="0">
      <p:cViewPr varScale="1">
        <p:scale>
          <a:sx n="105" d="100"/>
          <a:sy n="105" d="100"/>
        </p:scale>
        <p:origin x="756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11/12/2025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Achived</a:t>
            </a:r>
            <a:r>
              <a:rPr lang="en-US" dirty="0"/>
              <a:t> results:</a:t>
            </a:r>
            <a:br>
              <a:rPr lang="en-US" dirty="0"/>
            </a:br>
            <a:r>
              <a:rPr lang="en-US" dirty="0"/>
              <a:t>2. local **result** storage</a:t>
            </a:r>
          </a:p>
          <a:p>
            <a:endParaRPr lang="en-US" dirty="0"/>
          </a:p>
          <a:p>
            <a:r>
              <a:rPr lang="en-US" dirty="0"/>
              <a:t>Current limitations:</a:t>
            </a:r>
            <a:br>
              <a:rPr lang="en-US" dirty="0"/>
            </a:br>
            <a:r>
              <a:rPr lang="en-US" dirty="0"/>
              <a:t>3. which are the search feature and forage map.</a:t>
            </a:r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Either through a multi-task model or a separate specialized classifier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11-Dec-25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b="1" dirty="0"/>
              <a:t>DEVELOPING A MUSHROOM IDENTIFICATION </a:t>
            </a:r>
          </a:p>
          <a:p>
            <a:r>
              <a:rPr lang="en-US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492125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1: Introduction</a:t>
            </a:r>
          </a:p>
          <a:p>
            <a:r>
              <a:rPr lang="en-US" dirty="0"/>
              <a:t>Part 2: Theoretical basis &amp; systems analysis</a:t>
            </a:r>
          </a:p>
          <a:p>
            <a:r>
              <a:rPr lang="en-US" dirty="0"/>
              <a:t>Part 3: Implementation</a:t>
            </a:r>
          </a:p>
          <a:p>
            <a:r>
              <a:rPr lang="en-US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Develop a beginner friendly Android app for safe mushroom identification that support safe foraging practices and self-learning.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Provide real time image recognition using a server-side model with local result storage.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Include a keyword-searchable mushroom database.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Integrate an interactive forage map using iNaturalist community observations.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 server architecture with intuitive UI/UX.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Transformers</a:t>
            </a:r>
            <a:r>
              <a:rPr lang="en-US" dirty="0"/>
              <a:t>: Training, deploying, and serving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High-performance API layer for inference.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Google/vit-base-patch16-224-in21k </a:t>
            </a:r>
            <a:r>
              <a:rPr lang="en-US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Higher accuracy than ResNet-50, EfficientNet, and MobileNet on our mushroom dataset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Perfect for subtle details and complex textures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training, 10% validation,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14F15A-D21F-AE4D-8E26-02C6B7419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235570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72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AI Model Implementation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5696010-87F6-3F27-61B8-028FFCB6B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021375"/>
              </p:ext>
            </p:extLst>
          </p:nvPr>
        </p:nvGraphicFramePr>
        <p:xfrm>
          <a:off x="2948114" y="2622660"/>
          <a:ext cx="5537518" cy="16126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89062">
                  <a:extLst>
                    <a:ext uri="{9D8B030D-6E8A-4147-A177-3AD203B41FA5}">
                      <a16:colId xmlns:a16="http://schemas.microsoft.com/office/drawing/2014/main" val="407672397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08982252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79730080"/>
                    </a:ext>
                  </a:extLst>
                </a:gridCol>
                <a:gridCol w="1042416">
                  <a:extLst>
                    <a:ext uri="{9D8B030D-6E8A-4147-A177-3AD203B41FA5}">
                      <a16:colId xmlns:a16="http://schemas.microsoft.com/office/drawing/2014/main" val="3724914705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157743554"/>
                    </a:ext>
                  </a:extLst>
                </a:gridCol>
              </a:tblGrid>
              <a:tr h="32253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Model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Precision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Recall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F1 Score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AUC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31290136"/>
                  </a:ext>
                </a:extLst>
              </a:tr>
              <a:tr h="32253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dirty="0">
                          <a:effectLst/>
                        </a:rPr>
                        <a:t>ViT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0.89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0.88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0.88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0.998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53368255"/>
                  </a:ext>
                </a:extLst>
              </a:tr>
              <a:tr h="32253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dirty="0">
                          <a:effectLst/>
                        </a:rPr>
                        <a:t>ResNet-50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0.85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0.84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0.84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0.997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49266387"/>
                  </a:ext>
                </a:extLst>
              </a:tr>
              <a:tr h="32253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dirty="0">
                          <a:effectLst/>
                        </a:rPr>
                        <a:t>EfficientNetB4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0.84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0.83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0.83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0.996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48081925"/>
                  </a:ext>
                </a:extLst>
              </a:tr>
              <a:tr h="32253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dirty="0">
                          <a:effectLst/>
                        </a:rPr>
                        <a:t>MobileNetV3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0.83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0.82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0.82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0.995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8395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BC7D-BE0F-1758-A158-4EB0898F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2EBE-CECA-E5D4-562B-5D855B0FD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AI Model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0451C-8AF5-3A88-62C8-35FF905F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313" y="1618932"/>
            <a:ext cx="5249723" cy="40430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DB71698-2F97-9ADC-8FA2-A833C9E8D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964" y="1618932"/>
            <a:ext cx="5196206" cy="4043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241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3C3-B0A6-8CAD-CDF0-1B722272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FEAF-7CF2-C4FF-8113-EEFCF5252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AI Model Implementation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6287B1-B112-7A50-0521-992762F7E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434" y="1477568"/>
            <a:ext cx="6009132" cy="4506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449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CURRENT 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</a:t>
            </a:r>
            <a:r>
              <a:rPr lang="en-US" dirty="0"/>
              <a:t>, </a:t>
            </a:r>
            <a:r>
              <a:rPr lang="en-US" noProof="0" dirty="0"/>
              <a:t>overfitting not fully mitigated.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current ViT model has yet achieved desired accuracy on all classes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DEVELOPMENT DIRECTION: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more wild edibles using multi-task or speciated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higher reliability.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Increase and improve the dataset and augmentation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natural-language chatbot with a small LLM.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iNaturalist user-contributed observations to enrich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5159</TotalTime>
  <Words>705</Words>
  <Application>Microsoft Office PowerPoint</Application>
  <PresentationFormat>Widescreen</PresentationFormat>
  <Paragraphs>128</Paragraphs>
  <Slides>28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Arial</vt:lpstr>
      <vt:lpstr>Barlow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2.4. System Architecture Overview</vt:lpstr>
      <vt:lpstr>2.5. Use Case Overview</vt:lpstr>
      <vt:lpstr>2.6. Main System Workflows</vt:lpstr>
      <vt:lpstr>2.6. Main System Workflows</vt:lpstr>
      <vt:lpstr>2.6. Main System Workflows</vt:lpstr>
      <vt:lpstr>2.6. Main System Workflows</vt:lpstr>
      <vt:lpstr>Part 3: Implementation</vt:lpstr>
      <vt:lpstr>3.1. UI Implementation</vt:lpstr>
      <vt:lpstr>3.1. UI Implementation</vt:lpstr>
      <vt:lpstr>3.1. UI Implementation</vt:lpstr>
      <vt:lpstr>3.1. UI Implementation</vt:lpstr>
      <vt:lpstr>3.2. AI Model Implementation</vt:lpstr>
      <vt:lpstr>3.2. AI Model Implementation</vt:lpstr>
      <vt:lpstr>3.2. AI Model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398</cp:revision>
  <dcterms:created xsi:type="dcterms:W3CDTF">2022-07-01T08:15:51Z</dcterms:created>
  <dcterms:modified xsi:type="dcterms:W3CDTF">2025-12-11T12:30:34Z</dcterms:modified>
</cp:coreProperties>
</file>