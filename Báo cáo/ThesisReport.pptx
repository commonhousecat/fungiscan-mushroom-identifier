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71" r:id="rId2"/>
    <p:sldId id="259" r:id="rId3"/>
    <p:sldId id="280" r:id="rId4"/>
    <p:sldId id="282" r:id="rId5"/>
    <p:sldId id="287" r:id="rId6"/>
    <p:sldId id="286" r:id="rId7"/>
    <p:sldId id="281" r:id="rId8"/>
    <p:sldId id="284" r:id="rId9"/>
    <p:sldId id="299" r:id="rId10"/>
    <p:sldId id="300" r:id="rId11"/>
    <p:sldId id="292" r:id="rId12"/>
    <p:sldId id="296" r:id="rId13"/>
    <p:sldId id="293" r:id="rId14"/>
    <p:sldId id="294" r:id="rId15"/>
    <p:sldId id="295" r:id="rId16"/>
    <p:sldId id="298" r:id="rId17"/>
    <p:sldId id="297" r:id="rId18"/>
    <p:sldId id="274" r:id="rId19"/>
    <p:sldId id="275" r:id="rId20"/>
    <p:sldId id="276" r:id="rId21"/>
    <p:sldId id="277" r:id="rId22"/>
    <p:sldId id="278" r:id="rId23"/>
    <p:sldId id="285" r:id="rId24"/>
    <p:sldId id="279" r:id="rId25"/>
    <p:sldId id="301" r:id="rId26"/>
    <p:sldId id="273" r:id="rId27"/>
    <p:sldId id="272" r:id="rId28"/>
    <p:sldId id="270" r:id="rId29"/>
    <p:sldId id="261" r:id="rId30"/>
    <p:sldId id="283" r:id="rId31"/>
    <p:sldId id="267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5CAA"/>
    <a:srgbClr val="CCFFFF"/>
    <a:srgbClr val="00AFEF"/>
    <a:srgbClr val="FFFFFF"/>
    <a:srgbClr val="27ACE3"/>
    <a:srgbClr val="1F5CA9"/>
    <a:srgbClr val="F2F2F2"/>
    <a:srgbClr val="000000"/>
    <a:srgbClr val="D9D9D9"/>
    <a:srgbClr val="BABA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94673" autoAdjust="0"/>
  </p:normalViewPr>
  <p:slideViewPr>
    <p:cSldViewPr snapToGrid="0">
      <p:cViewPr varScale="1">
        <p:scale>
          <a:sx n="105" d="100"/>
          <a:sy n="105" d="100"/>
        </p:scale>
        <p:origin x="756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BB93D1-677A-4727-ACB1-B4ED1776CBF7}" type="datetimeFigureOut">
              <a:rPr lang="vi-VN" smtClean="0"/>
              <a:t>11/12/2025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7E2EB4-AAAC-4D92-8F4B-6C8B3AB9BD3F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04596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8037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43415-7EBD-A612-8A1C-EB47D1833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2404F-B406-4B93-3B6C-E7E9346A72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2D42B-071C-F252-6B4F-4B1E242D6A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3B383-1197-5B90-5491-9869AD46B9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5016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E6FE5-5835-F215-3BF1-F551AE28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4CD891-1745-3D4E-32C0-5634413340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E8D24-F21D-F0F1-B43F-809B30D62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6F906-A6B3-D27E-DDF9-547245368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962537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FA186-4E97-B32C-CB95-367D51CE5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9CBF99-0445-A8B4-CC30-A8EE736BD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681A7-6397-5802-6723-19A5ADF42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C2D1-12FB-7C63-1363-91B8CFDB79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83916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72541-DEED-BCEE-CB89-BEF6788E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484DC5-FD32-89A5-736D-CE8B4597AE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92E3A4-ACDE-BE64-9113-8D1F38A0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C0437-1D13-CE63-FA6A-FBB3279272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0696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C9864-09C4-6054-51AE-EF614566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47CCC-3455-EB21-8BCD-2FE5D89A2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ED74A4-0917-7F79-352A-367026DCD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5CA7-A5B7-5F79-F8FD-B8F4C922A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752735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51B75-5016-E0F5-3F50-727C5F95D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FED50A-F9FB-6B1A-38D7-09FACB191E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58EB54-B6CF-045A-B085-8BB7A769A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D3086-2EBA-D0F7-53FD-66A44F1E4A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391485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E6DF9-98E7-F510-0D5F-BBCF612DF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BDA3-4B0A-DA14-E409-F783E546D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2DC791-FCFA-4470-DBFE-5DEB6A7CD8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EA1BE-1AAB-B530-E513-CED8E1AFF0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45741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71C3B-60FD-F78E-A32E-F4A18C59A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15225B-C97F-EFC7-FF19-BD9B5A4EE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00390B-EEB3-B425-B18C-53FA91AFAE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2C4C8-4964-A2CD-4890-EBE340A1E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33638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4E520-8007-473F-1EAD-F11A63BDD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9434-C290-0358-EADD-2A95BF770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74D49-C1CE-653B-4198-1DE2391C5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A0187-9FF7-9E37-C7E5-DCF6518897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137754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B3396-8EFB-AC40-C9B9-C8A02B1B0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593095-1250-74A2-8FEA-D18CDF56EB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9406BA-D775-5E24-CC87-01AEC7BE0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FC894-8887-E41F-68A1-6FB66A4DF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79411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56FBD-0661-75B0-3AEB-41228248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4FB34C-BABD-A445-0976-9515A6FA90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F5B446-C20E-03E4-CE1F-853F60004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A8BA3-7BBB-7A0E-05DC-BC3E0D8711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333250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79DA3-338F-F953-3358-49FAD474A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0F6E29-33D2-A133-68F9-BC4AAD2B3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C116D-FEC2-2414-C630-193A317A0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EE85BF-F63C-3CB4-D6A3-14CEA2DF6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254263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F6867-6F68-B9EF-701E-FBD4BCA19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1EE5AF-4427-B6EB-2BA1-4B77AC871D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AD67D-E363-F74B-B957-56B2F3304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30A3C-4E71-CF74-7374-FD218724D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721467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Achived</a:t>
            </a:r>
            <a:r>
              <a:rPr lang="en-US" dirty="0"/>
              <a:t> results:</a:t>
            </a:r>
            <a:br>
              <a:rPr lang="en-US" dirty="0"/>
            </a:br>
            <a:r>
              <a:rPr lang="en-US" dirty="0"/>
              <a:t>2. local **result** storage</a:t>
            </a:r>
          </a:p>
          <a:p>
            <a:endParaRPr lang="en-US" dirty="0"/>
          </a:p>
          <a:p>
            <a:r>
              <a:rPr lang="en-US" dirty="0"/>
              <a:t>Current limitations:</a:t>
            </a:r>
            <a:br>
              <a:rPr lang="en-US" dirty="0"/>
            </a:br>
            <a:r>
              <a:rPr lang="en-US" dirty="0"/>
              <a:t>3. which are the search feature and forage map.</a:t>
            </a:r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672810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Either through a multi-task model or a separate specialized classifier</a:t>
            </a:r>
          </a:p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54410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AAB08-621F-8577-F090-3BDB87915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051E21-D4E8-E118-5E5C-DE8E6BA70A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4516DC-59A5-03E2-C0FF-CF883EC3FD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1375FE-AF65-AD32-7A9B-1FCC6C3DCE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30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281601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737"/>
            <a:ext cx="1061859" cy="1062060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0C3C4B-7EB0-A799-EF60-7E7B2A1A5D7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5889A1F-7953-5C39-8687-FF30BEEED6A0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2EFB534-7696-D26C-4ED3-9370C4BF548C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CEBF6C9-F2A0-D7EA-46F2-E2BED25E4EEB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FC287AC-3830-D280-1DFB-099F1C622F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DFDF354-0251-FE65-2C5F-25380E57F03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6B934B-7F60-9EFE-CEAF-A531BBACD85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AF9606-2A17-830C-304D-88D56EDB1C4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ADAA7A-04F6-2616-50B0-A84AF6F98FE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BF1CC2D-4F33-60C3-D015-EE4B3346464B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1C43A459-4626-2124-180B-282157DA33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386F145B-841B-1EA7-87E9-B007B9A54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785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rgbClr val="0070C0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rgbClr val="0070C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679"/>
            <a:ext cx="1061859" cy="1062177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rgbClr val="00AFEF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F92E844-1828-0F51-3BFD-DF527D65BF8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0BC67-81A5-AC24-0BB4-9D1D3E835D9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2AE1EA0-6222-87BA-38C9-866FE8F2830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606771-B50F-5EF5-AF4C-183C88EEC70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A8AD8D-BBBE-FFAE-563D-62AF760A44A6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F63336F-2FD5-E8B2-B179-80665CF8D4BA}"/>
              </a:ext>
            </a:extLst>
          </p:cNvPr>
          <p:cNvSpPr txBox="1"/>
          <p:nvPr userDrawn="1"/>
        </p:nvSpPr>
        <p:spPr>
          <a:xfrm>
            <a:off x="10520713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A62A7F-4A0D-8203-BB6A-E6AFE62BD36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32917" y="6481985"/>
            <a:ext cx="8961120" cy="113469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649E161-4DC5-D15C-6DAE-AE38C664B5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DD46289-EAED-BF63-CD78-95A65C49B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90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no logo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686872"/>
            <a:ext cx="11205713" cy="2200204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2887077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3947960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3805958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948C5E-76A7-F702-69DB-282464E7764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456AD05-D0D5-B566-5464-905D6E126C9B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39BB277-D677-7122-583C-E2DA058F670A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1A5C2-1028-7EF7-EC88-4F04EC7380D2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59C80C0-1870-FEE9-A583-DA16235CCD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171C3B7-8353-DD25-5B07-10A1A6F460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4368F2-C88A-4D70-3B44-7581ADC71E2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3AE119F-50AD-2187-F53D-C029A648621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19CCA49-4386-8CF5-117B-E4BFC03A736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22ECB67-A862-ED3E-EF70-A151EAE406AD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3B8820C-ED70-91BD-0EE7-9365C8F15B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89BB8B7F-E65A-2B23-CBF8-A125DD29F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65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hite P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rgbClr val="00AFEF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0" name="Picture 2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466" y="2942152"/>
            <a:ext cx="292100" cy="2921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D6870833-A090-2FC4-5912-C2D6C88612A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3A4C1548-DAF8-7811-AD5C-086ADE642C9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DF397E-0964-19E3-3D29-4BF5AE20ED6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D6A55E-FCEC-1A21-4FB9-1AF1ED781E5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1A7836A-4A30-2561-AA4B-98F38D1A9F0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4C04067-9571-D949-58CF-3A60577C57A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A4F8271-FD06-2438-CFB7-3F76D9497620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CDADCF46-A404-DF10-F07D-A239C8E9440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978CCFED-7040-5747-0179-1AF652ABB7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98DD7559-E714-D42A-A835-F976F0436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492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Blue Background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066" y="2914650"/>
            <a:ext cx="364657" cy="36465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0407ADE-1691-B221-3DBE-A0668F67DFA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34C1E1A-F6EE-479B-62C5-AAA2AF44D763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CF4A6C1-BB6F-E2E1-2B44-FAD2A1B1382F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C836B12-C2E7-7458-8EEF-C0E54C0712FC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02B1A35-3625-44F2-B450-96259B3697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D5BAB25-FCB5-FAAB-5765-8D4ACA9B26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09F01B-7545-EE0B-CCDB-EA38604EB38F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B09E43-1817-D52E-1B93-2D03B69FBBF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340A8E4-7C5F-7F57-1FD7-2B62EB3A0CA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401AA1-7975-3594-DC27-3B15A19D2BF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86A1549-5E94-2A55-30E3-4C7A2D1E807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698C5B0-03A7-5383-3EC8-3710BCD55816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E419B5B-7A9D-F950-9502-52863B4171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4DAFEAD-AB29-262E-41C9-C3201759F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445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972A86A-A3D6-70DE-0206-BB773A44427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F733AF-6C3E-C1DE-BF08-4108C35CB05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C96F8B-987B-47C3-DC48-3B2EC5C98BF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9E896E5-AB0B-ABF2-F541-548D70DF16AA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E7016E-5C25-89AC-E3E9-89EB47F0A810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33B369-34FD-38B1-40F4-836D92B18F93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CF3CD0-0780-0107-D9DB-DE3A0686537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116B1A76-6786-C06A-D6C0-A0BC7A7F25B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9005CE5F-4F8E-66A1-F81A-540454C0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6E2CA9E6-1E82-4B20-FB07-FD5250BFF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131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CEE1D6-0A80-8A7D-310B-2F6B434F47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C97F628-B079-2940-2E4F-049E9873129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D8560CBA-FB38-D549-7788-5A7F86AD1A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B756CF-635F-2E57-8722-72C3D8408D4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A44B8DB-D90F-26D8-B105-AECC09EE310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95BB7A6-D4CE-39DA-0C0F-8FA03C1C389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0C7246-1027-A415-A357-8ED6859B41A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65A1153-1465-6C9E-072E-0CB9EA95C83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63DC1F8A-1143-0496-727C-A5E2853ADB4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C79EA280-7079-2671-7431-D4C8A282BD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8BECDF71-9E3F-1FDA-7294-59E6E4045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8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eft - Placeholde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6B71F910-DD42-8802-386F-AA27E891E3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514350" y="1125114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514348" y="2885650"/>
            <a:ext cx="4467229" cy="224454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5667375" y="1125114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C457288-A298-8307-CA3A-BCC9B567B11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A4107E3-FCC1-2FA8-940D-66942BC6AEA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AAE776-427C-454C-BFB3-E077817B15D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0771E7-4B20-1F40-140A-4B261F8E428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CD22E2F-B2A6-D479-E446-9453ECC0398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8D558C3-688C-AE5D-7773-5245FB2D1C5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EC6A0FB-F699-CD35-E089-2BA15C86614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DBA8FFA0-0FBE-EFB1-2CB7-431B66DFA7A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21FF757A-9B60-2BBB-5CA6-A10C29CC4C6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DE528345-AB37-A617-0E65-50934E1E4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97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ceholder Left - Title Righ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36A66E2-7787-687B-3553-97FAF9109C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6737350" y="1332588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6737348" y="3093124"/>
            <a:ext cx="4467229" cy="2192339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624706" y="1332588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84EA878-CEF8-6FB2-A540-C6A97C21EAF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DA66E662-A492-8194-8ADC-3598CFA592D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218C06-B8B4-2F96-C140-7BA78387F4C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0EE1EC-9EC8-D030-C6C2-5FAAFD03683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54EBD89-8FC7-F26D-23AE-AAB67F8274D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7BA63AE-E9B0-994C-3D89-26F246E87C8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9AD3D64-DCBC-C25B-3D52-B8EFE45118C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228C82C3-CBBB-F4F2-8ED2-54CA733BBDC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1F522C1A-84E2-80A8-C6F7-B05A1C8A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4E85E39C-F5A6-84A8-D43C-44C336DDB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09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4787900" cy="6858000"/>
          </a:xfrm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626100" y="1109534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626098" y="2870070"/>
            <a:ext cx="5959480" cy="2502381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4787899" y="0"/>
            <a:ext cx="116779" cy="6858000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106" y="241300"/>
            <a:ext cx="292100" cy="2921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F0BCA23-68B0-63A7-A73B-EFC23283BDC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63CD6AD-4253-51A2-A566-BB6B7D849D8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83A458-D564-08E2-48BE-8576EA6126D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71C8A4-C658-2658-0973-AA88EDE1D46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8366489-BD44-2B4C-DDA0-3AD9135A43AB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E722696-6207-C6F8-AD0A-3AC757C034B8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ED87827-8B15-2E13-32B7-99C6EC9889F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C3BA3247-1921-72DB-7520-8D4E50C990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D910A593-E300-33C3-FBE8-D93BACDD6C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D2501568-239C-83F7-5DD0-657DBF00C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931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F9E864A0-20A2-BDEB-4706-A5E83DDFA4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2700000">
            <a:off x="781863" y="1310095"/>
            <a:ext cx="3916148" cy="3910374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575300" y="769938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575298" y="2530474"/>
            <a:ext cx="5959480" cy="3550350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A90EEE0-CD8C-2ACB-25F9-50BB8997F9B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8976" y="127568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DDDAF3A5-8C80-403E-4204-D45A798228F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8976" y="3365543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5" name="Picture Placeholder 22">
            <a:extLst>
              <a:ext uri="{FF2B5EF4-FFF2-40B4-BE49-F238E27FC236}">
                <a16:creationId xmlns:a16="http://schemas.microsoft.com/office/drawing/2014/main" id="{1442A5B8-CFC4-5FD2-2AD5-A6E2BE31C3D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2811" y="1752381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8BE5A7E-5F20-6A38-5D19-14DA476864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776" y="2393663"/>
            <a:ext cx="1716960" cy="1717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386DC99-8F32-11E9-983C-B3C39D2459F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3D1BD4B-6E3C-FAF0-9C5D-40A11B8635C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0977BD-8ECF-5110-F1F4-0937C2E1125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66D88B-91F5-F3BF-F212-0F4AE14A651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DBE89AD-C6CF-2A50-8DC2-85D9791E461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9D9B3C8-41F7-9472-9833-36699C4652B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0AB2170-F31A-5854-12E4-933981ADDC3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7CB6D149-9BC6-BE51-71B6-D144F8192FB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F8523E06-FA89-E334-682A-F7E2E1F114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20FC346D-E32C-F851-0C12-1AF7BAC4E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41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 userDrawn="1"/>
        </p:nvGrpSpPr>
        <p:grpSpPr>
          <a:xfrm>
            <a:off x="170156" y="134614"/>
            <a:ext cx="3918888" cy="6192390"/>
            <a:chOff x="125766" y="134614"/>
            <a:chExt cx="3918888" cy="6192390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25766" y="134614"/>
              <a:ext cx="3918888" cy="54884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3332" y="2190750"/>
            <a:ext cx="3335867" cy="376152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3333" y="481807"/>
            <a:ext cx="3335866" cy="1570038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2"/>
          </p:nvPr>
        </p:nvSpPr>
        <p:spPr>
          <a:xfrm>
            <a:off x="4210050" y="1233577"/>
            <a:ext cx="7685088" cy="4882552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565" y="285479"/>
            <a:ext cx="457200" cy="457200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DD19746-30EB-A83A-D21A-F1B9E16D247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2E2A0A4-5A53-F038-F5EB-BD8F1E5AFD7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1F6732-8091-1AE1-6E1D-6954DC3EA4F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9A0811A-4588-6194-86AC-E194A3F1DFA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DD4FBC2-A787-B800-17C5-0A781E726CD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5EFD89B-7B87-AF4F-814F-0AA460F23D1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41C4A7F-7300-21FE-EA50-16E1A5A77E9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45B877AE-7BB3-BD6D-0542-D559E200917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8" name="Date Placeholder 3">
            <a:extLst>
              <a:ext uri="{FF2B5EF4-FFF2-40B4-BE49-F238E27FC236}">
                <a16:creationId xmlns:a16="http://schemas.microsoft.com/office/drawing/2014/main" id="{6016BCA3-25B1-AB94-888D-5DD70978FD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4DAE0421-35C8-A44D-DB29-498D0E12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0626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To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134613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91250" y="465934"/>
            <a:ext cx="5229225" cy="1634339"/>
          </a:xfrm>
        </p:spPr>
        <p:txBody>
          <a:bodyPr wrap="square">
            <a:no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4705" y="3223632"/>
            <a:ext cx="4928369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25089" y="438150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24706" y="3062972"/>
            <a:ext cx="4927984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DE2B706-8307-6ED5-F877-389B0B2979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466" y="2644402"/>
            <a:ext cx="3453753" cy="3402396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15" y="2177429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56579B3-3250-5A93-A619-C502AF4378C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00BC45EF-8099-BFBE-CB9B-3D5894AB918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B97C89-93B1-15A9-90AD-50C9C530260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047C513-B9CB-E55A-A268-4D351439A6E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2BC9A06-D004-8B99-6028-4768BCA72E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4DAD25D-CCE9-7A57-F420-B77E7815229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DDC1981-6459-59D5-0815-171F02D5ED1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1245F4A-AB03-5AB1-0A83-90E93017E3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FEBFB8CF-A0C2-3CAE-ED9D-44D609BD99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FA38EFC-6D53-C543-BD40-EAB93D109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2556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Bott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3979538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1485" y="4229011"/>
            <a:ext cx="5229225" cy="163433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569891" y="811935"/>
            <a:ext cx="5229225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720704" y="2860675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720704" y="2772120"/>
            <a:ext cx="4928369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D997C6-547B-2702-8F85-89942F1AB1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842" y="373388"/>
            <a:ext cx="3453753" cy="3402396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467" y="3759764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CB3FECD7-B809-C513-A765-543A8AA0930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5F4ED96-5A50-7897-C9D3-D6C5F7F24644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5E1B64-47A0-177B-E38E-FFCB1BFB7F0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8D30235-6AFE-D5FB-9E67-891624ADA5E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668F9CF-08F2-8D07-00BA-ACA2889A790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243AC87-0F13-59D7-0A50-B5018743B78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D41F68F-BF55-4FE9-5090-3BEA11863EE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671AF42-A968-E709-F974-3786306B76E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05C9C037-721A-EE13-7858-CB03EA8D60D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947D90C-2FFF-4BCF-955E-477E804FC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4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Informa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0" y="2580549"/>
            <a:ext cx="12192000" cy="107901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01972" y="3856819"/>
            <a:ext cx="7445428" cy="2304603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rgbClr val="00000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503437" y="2747660"/>
            <a:ext cx="7443963" cy="90440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2584938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Cover Photo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64144" y="1144291"/>
            <a:ext cx="2601302" cy="2606040"/>
          </a:xfrm>
          <a:prstGeom prst="ellipse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Avatar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3631224" y="3726827"/>
            <a:ext cx="1820007" cy="45719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348756" y="4679980"/>
            <a:ext cx="1574800" cy="1589422"/>
          </a:xfrm>
        </p:spPr>
        <p:txBody>
          <a:bodyPr anchor="ctr" anchorCtr="1"/>
          <a:lstStyle>
            <a:lvl1pPr marL="0" indent="0">
              <a:buNone/>
              <a:defRPr baseline="0">
                <a:latin typeface="K2D" panose="00000500000000000000" pitchFamily="2" charset="-34"/>
              </a:defRPr>
            </a:lvl1pPr>
          </a:lstStyle>
          <a:p>
            <a:r>
              <a:rPr lang="en-US"/>
              <a:t>QR Code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8399B61-C397-6E24-154B-55AEE91F31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319" y="3749686"/>
            <a:ext cx="2513362" cy="2475989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9872" y="3047462"/>
            <a:ext cx="292100" cy="292100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CF3A4AC-8C33-1F5F-4FCF-36E48B971DE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31EE6362-FF42-B158-14D7-791E563A40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BCA2BB-3905-70EA-8E3B-4C4C23F4B242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DE44E1-B632-C94B-C2E5-B6511AB5D1A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09379C1-1F55-27CD-8F20-239AEED92B4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9B14EA4-6EC6-3850-7D93-4497D01D4F9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B51D4C4-7625-4EBC-C374-BA737125147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8720C55-B1E8-DEB6-C7AB-97941AEE105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994FD199-97C2-38C6-8106-E7B191AA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7108A6F0-993E-B1CF-C4F9-364A0D521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04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6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12"/>
          </p:nvPr>
        </p:nvSpPr>
        <p:spPr>
          <a:xfrm>
            <a:off x="839788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13"/>
          </p:nvPr>
        </p:nvSpPr>
        <p:spPr>
          <a:xfrm>
            <a:off x="6308727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3" name="Content Placeholder 9"/>
          <p:cNvSpPr>
            <a:spLocks noGrp="1"/>
          </p:cNvSpPr>
          <p:nvPr>
            <p:ph sz="quarter" idx="14"/>
          </p:nvPr>
        </p:nvSpPr>
        <p:spPr>
          <a:xfrm>
            <a:off x="6308726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B6A1C3F-E095-6603-EB6A-4692D7DC4D7F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2D484E77-EB85-6D96-B62E-324A0D7B35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D5F61A-FC38-10EB-9F34-BDAF8DF522A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99F45F-CE0A-F387-F44D-1D30A1F7C6D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4F60203-170A-C54E-4359-94613593BE2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28C187-091A-1C47-C59F-5206838AE8E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40BE4EB-93C3-DE8A-E5FE-5F7784F916F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821A8640-C550-B1AE-0B4C-F969DC9A61D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0A9790D-D392-1687-4196-57E7AF2AC7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1B874F62-0481-F0D1-C531-35980622F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1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741487" y="465301"/>
            <a:ext cx="36576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400" b="0" i="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 dirty="0"/>
              <a:t>Insert photo #1</a:t>
            </a:r>
          </a:p>
        </p:txBody>
      </p:sp>
      <p:sp>
        <p:nvSpPr>
          <p:cNvPr id="17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4678998" y="465301"/>
            <a:ext cx="3571623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#2</a:t>
            </a:r>
          </a:p>
        </p:txBody>
      </p:sp>
      <p:sp>
        <p:nvSpPr>
          <p:cNvPr id="18" name="Picture Placeholder 5"/>
          <p:cNvSpPr>
            <a:spLocks noGrp="1"/>
          </p:cNvSpPr>
          <p:nvPr>
            <p:ph type="pic" sz="quarter" idx="15" hasCustomPrompt="1"/>
          </p:nvPr>
        </p:nvSpPr>
        <p:spPr>
          <a:xfrm>
            <a:off x="8530533" y="474155"/>
            <a:ext cx="27432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#3</a:t>
            </a:r>
          </a:p>
        </p:txBody>
      </p:sp>
      <p:sp>
        <p:nvSpPr>
          <p:cNvPr id="20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7484734" y="3450874"/>
            <a:ext cx="3788999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#5</a:t>
            </a:r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741485" y="3450874"/>
            <a:ext cx="64770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#4</a:t>
            </a:r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2748535E-1DD2-7B67-FDAB-C062065B5FBE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1AD74DFB-3387-82CA-DCBC-554151885FB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2A8137-C994-2B6F-C3A5-BD9618F8FF3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78CE0C-4765-B88E-0528-CE00C820B77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13D7AA8-6FFC-F2C3-785E-062ECC4ED589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69E49A-EDDB-7575-6801-C788712B815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6D4431F-E9C5-9BF5-9401-B2EFB1930B04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EC0A2792-06AE-7615-A081-77FCBDDEB3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7BD2C8B8-1DA8-CC71-639A-9C33900D93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92FC2236-5102-CDC0-2E5E-2AA120B7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97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/>
          <p:cNvCxnSpPr/>
          <p:nvPr userDrawn="1"/>
        </p:nvCxnSpPr>
        <p:spPr>
          <a:xfrm>
            <a:off x="60960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897765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6597297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898361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6597892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898257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6597788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5BE1441-A7C4-36F6-C4F4-9100027A0B6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BE4B83F-5D8C-7F33-3016-2442DC2FC17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720DA-518E-AAAA-F408-8FD447F87015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2642A7-3527-8237-8F2D-C2631D6524D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96BAECC-4432-738B-ECBB-0057206A64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A95D43E-8493-3BB9-29D7-930B3183397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389D17-E10E-30AC-A150-DCEE1AD6D3A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C37F936C-906B-25E9-11BB-6DA34ADC423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0E8D7227-1155-98FF-5470-13137C4AC5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F8CD56B0-3886-6989-B381-59404EB87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422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9375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000" baseline="0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40386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 userDrawn="1"/>
        </p:nvCxnSpPr>
        <p:spPr>
          <a:xfrm>
            <a:off x="8086459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4378402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8426261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329912" y="3302000"/>
            <a:ext cx="3367088" cy="26130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4378402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8426260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/>
          <p:cNvSpPr/>
          <p:nvPr userDrawn="1"/>
        </p:nvSpPr>
        <p:spPr>
          <a:xfrm flipH="1" flipV="1">
            <a:off x="329374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4377232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8425090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FA4B3AA-22E9-7751-468B-D7808BAF44BD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9747DA11-94E3-B2DA-114B-E1D69C75BE6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D6C4A-F51A-64E8-8A49-49C141862BBC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79645F9-6CC7-6F42-6379-6F00AB90708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EE0E806-C242-0D32-B65D-E8E53A33CDA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E01F7E8-B82D-3942-44A2-8312FA5A492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A922989-8C7F-DE1C-F9DB-3819FD7E311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5ADE44CC-E174-8BE4-0522-DD862811ED4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3" name="Date Placeholder 3">
            <a:extLst>
              <a:ext uri="{FF2B5EF4-FFF2-40B4-BE49-F238E27FC236}">
                <a16:creationId xmlns:a16="http://schemas.microsoft.com/office/drawing/2014/main" id="{9DE29959-9E0B-0A99-71BE-E27767F0871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F607A11D-8A45-DFF7-EE6E-2CD55230B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908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4113213" y="-1449386"/>
            <a:ext cx="3965573" cy="105156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32772FD-D424-B383-49DC-161E8C8DFF5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5574E33-7FA3-EB5A-07DA-B0D592DE755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D0B717-8345-25F8-2957-47BBC585EC0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31ED58-20F8-A968-3866-C42E815D154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5F877E4-63EA-ACE6-E342-DC584FC089F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E9476C-9B90-B9D1-4C52-6CA3CA8EC91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E388C27-8095-81DC-7EE3-CCEF9DECDE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BBDAE94A-EB44-AF0F-9F35-A4791C430EB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2189598B-13E1-FDF8-9B2D-1A850E76F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5DDB4F9D-2C19-583B-3A9D-50BA2EC50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515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1875631" y="-672303"/>
            <a:ext cx="5811837" cy="78867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1981" y="51983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5AEB09C-7C0D-C0E3-7B98-21C40CB9A18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F0832186-EAAB-4BE8-90C4-6BC4D82856C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9693BE-FF51-213B-F8C5-08BD83810D46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B185E88-EE79-628D-B92A-D7691650663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37B433-287E-7247-5AB4-57A8A9309D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4C13FAF-24C8-411A-86C1-49DA84B86D1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9874890-26DA-8C8C-6D51-799D76D3804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016BB26A-88E2-E41F-A0CD-D9C042B6237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76FEF495-01CA-8881-23CF-4596A08A2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1BCCF94D-F923-D87D-7129-CC43A7BA4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897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25583"/>
            <a:ext cx="10515600" cy="978408"/>
          </a:xfrm>
        </p:spPr>
        <p:txBody>
          <a:bodyPr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F628E4E-7D92-2696-C967-238AE8D192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B9919531-5790-1B13-2BBC-E44A0729F8B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C6611E1-0E92-CFBF-33DE-3FE88195495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EDC3AD-682C-96BE-4565-69E8B40A78D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E3977B-8545-D9C4-3AAB-28F9DD6F3DF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E7BC02-C481-879F-5E13-66665A95668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90FDD4A-0B65-E851-C888-C3E4747E68E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B9020A6-9AE4-1C5E-2382-92C731256B0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77D4506D-DA98-1098-1F12-442ACBBE5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5DF6567C-9B56-05C1-4116-2F8FE0DF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E0C7BC1C-FD72-64C1-CD8B-807BA95B6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B977A98-B16D-37D0-150B-AA6EC7793A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A2A218B-FD80-D9A9-A563-EDD66C447C9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D18193-6D41-7E8F-A381-F645A445BD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0DE44E-0F54-4683-B3FC-23CC354865C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19DC06-DF8A-8075-CDF6-1D816B36D85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89F593B-7FEA-F5D2-C5B2-F34F4F27CD9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386CB8E-6A41-6224-EDAA-82C150F4F17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5016A6-8328-D979-F3B1-3699FE7C12D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1883C3A-31E7-5C99-C60E-FB33D489FE7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AAF4B286-E3B1-4602-9B2B-E971F31B9B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D23BE6BC-821E-A5D1-30D2-E3CB22140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36906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1">
    <p:bg>
      <p:bgPr>
        <a:solidFill>
          <a:srgbClr val="1F5CA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FF29CC0-A8E3-7B26-83F7-23FD30C83B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99C7F682-0100-EB65-9EF7-68F4E1527F64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7B12206D-0D33-F7BF-D5C3-71176B0C507A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958F7DE-9367-1A7B-0471-C642F47C03A3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FF2EDA6-9276-E821-1BDA-7B118853E64D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082EDF61-0E98-DA36-3E26-D168E759754A}"/>
              </a:ext>
            </a:extLst>
          </p:cNvPr>
          <p:cNvSpPr/>
          <p:nvPr userDrawn="1"/>
        </p:nvSpPr>
        <p:spPr>
          <a:xfrm>
            <a:off x="11537004" y="6559299"/>
            <a:ext cx="340536" cy="17037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DF5C25A6-8095-6AF2-C9C3-8CD0FED2FB3C}"/>
              </a:ext>
            </a:extLst>
          </p:cNvPr>
          <p:cNvSpPr txBox="1">
            <a:spLocks/>
          </p:cNvSpPr>
          <p:nvPr userDrawn="1"/>
        </p:nvSpPr>
        <p:spPr>
          <a:xfrm>
            <a:off x="11471662" y="6458314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DB983B-0A91-69E0-195A-772E71561D24}"/>
              </a:ext>
            </a:extLst>
          </p:cNvPr>
          <p:cNvSpPr txBox="1"/>
          <p:nvPr userDrawn="1"/>
        </p:nvSpPr>
        <p:spPr>
          <a:xfrm>
            <a:off x="10124841" y="6467839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8DADC743-2431-45F2-79E2-121CA7F280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33270" y="6478829"/>
            <a:ext cx="8961120" cy="113469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79887EFC-47B1-9E40-0D8C-00E95C29EF5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EE3C0DB-B1FC-4FD9-6D12-4A8C131EE2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806F485-7B56-F41A-BB6F-3E9B7BF9AD6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5A13944-4F33-47EC-96FA-50BC12ED342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57" name="Date Placeholder 3">
            <a:extLst>
              <a:ext uri="{FF2B5EF4-FFF2-40B4-BE49-F238E27FC236}">
                <a16:creationId xmlns:a16="http://schemas.microsoft.com/office/drawing/2014/main" id="{B137584B-E513-D305-AC1C-9A6C3A36A5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58" name="Footer Placeholder 4">
            <a:extLst>
              <a:ext uri="{FF2B5EF4-FFF2-40B4-BE49-F238E27FC236}">
                <a16:creationId xmlns:a16="http://schemas.microsoft.com/office/drawing/2014/main" id="{5F1F2948-EE2B-7B83-70EC-1CA44DC0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6084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2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A39DEC0-0415-D667-18C3-EEA5AEBABE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74BF315-D1FC-6421-060B-3FFD387F1B1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2D3478F-4D6B-F3FC-93EE-781955B168ED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30E6027-7A58-80A0-C4DE-BD292242A19B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C39217D-11B2-EC58-7DB9-670BADCEC0E6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97AF6527-BFE4-537E-1308-488B162949B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E5CACFF-45E7-55D3-E5A5-653F2B8017A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4E5C97-2B57-9E5D-764D-87DE472CB901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E5E75459-D4C7-9354-A931-B335C406F5A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D0EE6BD-EFE1-AFBA-1E5F-9B64FFE8B6B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B1249A6-9C2C-8AA9-7B4D-3B74EC7BB0E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2B3CAD9-FCD5-AB71-2E3E-03FCB768FF8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54E90919-B9E0-2168-DD97-F4BCD8260673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E2A85561-D248-4BA0-93D1-F7F0B4A9F0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B2E66308-078F-2D9B-D872-3883B077C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727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2262706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19450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287B9FD-C79A-8EEC-DA77-0430594CE6F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04660008-7F5F-0A11-964B-A878CD65CF3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F9D2699-A975-3955-567E-8D16A284D731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3125F0-F340-CFA8-92F8-610235DCCCF8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C743FA-D9C9-C6C2-44F3-7300A846F325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1E68D7F-2272-301E-994D-57A01621A87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B08B4A4-84FB-D350-B610-3F768FCC3D0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F77AB56C-52A9-72A6-BE5C-712FF50C35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03EA8419-42D3-1B00-055A-95A63C389F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0485261C-7BF5-B42D-297D-A35E47524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344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FDADA73C-32DA-6364-6627-ED34BFEF2D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2247" y="1727802"/>
            <a:ext cx="3453753" cy="3402396"/>
          </a:xfrm>
          <a:prstGeom prst="rect">
            <a:avLst/>
          </a:prstGeom>
        </p:spPr>
      </p:pic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5868547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6825291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400175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3160711"/>
            <a:ext cx="5153026" cy="1839914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67C2E8D-A219-06CC-DDED-60563052D400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18339483-E992-0B16-C57C-FCA2197AF14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01984B-E435-DF86-91C0-A34A6136DB5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AE826F-6D23-1C12-4C77-DD6D4A76090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DD13BBB-17CE-445B-C2C2-2254F68DEBA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A1CBAEE-DB37-69A6-C83C-9ED0BC3403D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28E06ED-9C8D-C1F3-B2C1-7E82A3E89B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2282D43-F19B-36CA-D127-B9AFE4A33DA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C09A338B-CA30-F0C4-C424-A777C06DFE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A540C5A9-41E2-BA3D-15CF-D5824BC7E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695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B96C117-0DD7-57D2-DF3E-3C0A174E03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pic>
        <p:nvPicPr>
          <p:cNvPr id="20" name="Picture 2" descr="Samsung Mobile Mockup Template Download on Pngtree | Mobile mockup, Samsung  mobile, Samsu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6875" y="657226"/>
            <a:ext cx="4972049" cy="497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8305800" y="1057275"/>
            <a:ext cx="2095500" cy="4038600"/>
          </a:xfrm>
          <a:prstGeom prst="roundRect">
            <a:avLst>
              <a:gd name="adj" fmla="val 4741"/>
            </a:avLst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6C50603-7118-372F-6CD8-67B3EA4744C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6F76C3E-CA40-066E-6D9B-DDC46B954A8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87986D-55B9-3A95-61F3-24E53EB2E71B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83DF21-9E95-D191-1729-A6BD31DA188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32303C9-325E-4679-0C55-AA4CC397279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2D0F45-9137-6A7D-28A8-9A3BC979E4E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C045F73-3B00-AF17-A81A-929B412EAF3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57B47963-B402-88E5-A96F-E4D6CF5D437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F74441E-7CED-96FA-08FA-C1E6108795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C7022278-3B3F-6183-1CA9-35D3E0A0F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4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5B58D15-E021-9409-2BF6-38B86625489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sp>
        <p:nvSpPr>
          <p:cNvPr id="18" name="Picture Placeholder 1"/>
          <p:cNvSpPr>
            <a:spLocks noGrp="1"/>
          </p:cNvSpPr>
          <p:nvPr>
            <p:ph type="pic" sz="quarter" idx="15"/>
          </p:nvPr>
        </p:nvSpPr>
        <p:spPr>
          <a:xfrm>
            <a:off x="8461702" y="1108334"/>
            <a:ext cx="2131430" cy="4626572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E05A38DB-2EAE-47C8-9F84-174DA20245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472C8C42-C792-4628-B171-1C30DA52BB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917F0B-3CB7-E0EA-BFAE-20D511EF880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408F28A-ACB2-6E48-D5E6-03F24C7118A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FF86E4-C720-0B16-79A3-87981D57083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A5A958-3EF5-C954-1BDD-5C44193C42D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75DDA0-8FC0-DB37-99A8-55D3DD65ED4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A2E0A32-AF7C-F862-F2DF-150884F9200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F054695-BD09-A212-CA6E-A1D36670558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DDA22685-D3D5-AF13-9F3C-2983763EFF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FB4B915C-60A3-0B79-5905-5A42CE5420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11-Dec-25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B38F3282-08F4-E668-5916-6C6A00B13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43863" y="1011126"/>
            <a:ext cx="3171810" cy="5138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683CFCA1-DA12-C6FE-EFA3-0063CCBE582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255760" y="1200818"/>
            <a:ext cx="534445" cy="155541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308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00D1CE85-AA59-46D7-98F4-301D80B40614}" type="datetimeFigureOut">
              <a:rPr lang="en-US" smtClean="0"/>
              <a:pPr/>
              <a:t>11-Dec-25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B9B05A01-6F48-4D1A-BEA9-613C8F70D2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0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80" r:id="rId2"/>
    <p:sldLayoutId id="2147483679" r:id="rId3"/>
    <p:sldLayoutId id="2147483652" r:id="rId4"/>
    <p:sldLayoutId id="2147483653" r:id="rId5"/>
    <p:sldLayoutId id="2147483654" r:id="rId6"/>
    <p:sldLayoutId id="2147483677" r:id="rId7"/>
    <p:sldLayoutId id="2147483655" r:id="rId8"/>
    <p:sldLayoutId id="2147483656" r:id="rId9"/>
    <p:sldLayoutId id="2147483657" r:id="rId10"/>
    <p:sldLayoutId id="2147483678" r:id="rId11"/>
    <p:sldLayoutId id="2147483658" r:id="rId12"/>
    <p:sldLayoutId id="2147483659" r:id="rId13"/>
    <p:sldLayoutId id="2147483660" r:id="rId14"/>
    <p:sldLayoutId id="2147483661" r:id="rId15"/>
    <p:sldLayoutId id="2147483663" r:id="rId16"/>
    <p:sldLayoutId id="2147483666" r:id="rId17"/>
    <p:sldLayoutId id="2147483674" r:id="rId18"/>
    <p:sldLayoutId id="2147483673" r:id="rId19"/>
    <p:sldLayoutId id="2147483675" r:id="rId20"/>
    <p:sldLayoutId id="2147483676" r:id="rId21"/>
    <p:sldLayoutId id="2147483664" r:id="rId22"/>
    <p:sldLayoutId id="2147483665" r:id="rId23"/>
    <p:sldLayoutId id="2147483667" r:id="rId24"/>
    <p:sldLayoutId id="2147483668" r:id="rId25"/>
    <p:sldLayoutId id="2147483669" r:id="rId26"/>
    <p:sldLayoutId id="2147483670" r:id="rId27"/>
    <p:sldLayoutId id="2147483671" r:id="rId28"/>
    <p:sldLayoutId id="2147483672" r:id="rId2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K2D" panose="00000500000000000000" pitchFamily="2" charset="-3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59C82-E165-4291-296C-0B6D29685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3143" y="1371600"/>
            <a:ext cx="11205713" cy="1517155"/>
          </a:xfrm>
        </p:spPr>
        <p:txBody>
          <a:bodyPr>
            <a:normAutofit/>
          </a:bodyPr>
          <a:lstStyle/>
          <a:p>
            <a:r>
              <a:rPr lang="vi-VN" sz="2400" dirty="0"/>
              <a:t>CAN THO UNIVERSITY</a:t>
            </a:r>
            <a:br>
              <a:rPr lang="vi-VN" sz="2400" dirty="0"/>
            </a:br>
            <a:r>
              <a:rPr lang="vi-VN" sz="2400" dirty="0"/>
              <a:t>SCHOOL OF INFORMATION </a:t>
            </a:r>
            <a:r>
              <a:rPr lang="en-US" sz="2400" dirty="0"/>
              <a:t>&amp; COMMUNICATION TECHNOLOGY</a:t>
            </a:r>
            <a:br>
              <a:rPr lang="en-US" sz="2400" dirty="0"/>
            </a:br>
            <a:r>
              <a:rPr lang="en-US" sz="2400" dirty="0"/>
              <a:t>INFORMATION TECHNOLOGY HIGH-QUALITY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B227C-F72B-0A3A-1BA0-B974084F35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143" y="3063240"/>
            <a:ext cx="11205713" cy="1794978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GRADUATION THESIS</a:t>
            </a:r>
          </a:p>
          <a:p>
            <a:endParaRPr lang="en-US" sz="1000" b="1" dirty="0"/>
          </a:p>
          <a:p>
            <a:r>
              <a:rPr lang="en-US" b="1" dirty="0"/>
              <a:t>DEVELOPING A MUSHROOM IDENTIFICATION </a:t>
            </a:r>
          </a:p>
          <a:p>
            <a:r>
              <a:rPr lang="en-US" b="1" dirty="0"/>
              <a:t>APPLICATION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A2249C-51C8-C10F-ACF3-9A8B868F97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3143" y="4978568"/>
            <a:ext cx="11205713" cy="492125"/>
          </a:xfrm>
        </p:spPr>
        <p:txBody>
          <a:bodyPr/>
          <a:lstStyle/>
          <a:p>
            <a:r>
              <a:rPr lang="en-US" b="1" dirty="0"/>
              <a:t>Advisor: </a:t>
            </a:r>
            <a:r>
              <a:rPr lang="en-US" dirty="0"/>
              <a:t>Dr. Bùi Võ Quốc Bảo</a:t>
            </a:r>
          </a:p>
          <a:p>
            <a:r>
              <a:rPr lang="en-US" b="1" dirty="0"/>
              <a:t>Student: </a:t>
            </a:r>
            <a:r>
              <a:rPr lang="en-US" dirty="0"/>
              <a:t>Nguyễn Quang Vinh (B2105727)</a:t>
            </a:r>
          </a:p>
        </p:txBody>
      </p:sp>
    </p:spTree>
    <p:extLst>
      <p:ext uri="{BB962C8B-B14F-4D97-AF65-F5344CB8AC3E}">
        <p14:creationId xmlns:p14="http://schemas.microsoft.com/office/powerpoint/2010/main" val="2603090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Content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B3A4D-EB59-4245-BACF-15AE3A78B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 1: Introduction</a:t>
            </a:r>
          </a:p>
          <a:p>
            <a:r>
              <a:rPr lang="en-US" dirty="0"/>
              <a:t>Part 2: Theoretical basis &amp; systems analysis</a:t>
            </a:r>
          </a:p>
          <a:p>
            <a:r>
              <a:rPr lang="en-US" dirty="0"/>
              <a:t>Part 3: Implementation</a:t>
            </a:r>
          </a:p>
          <a:p>
            <a:r>
              <a:rPr lang="en-US" dirty="0"/>
              <a:t>Part 4: Conclusion</a:t>
            </a:r>
          </a:p>
        </p:txBody>
      </p:sp>
    </p:spTree>
    <p:extLst>
      <p:ext uri="{BB962C8B-B14F-4D97-AF65-F5344CB8AC3E}">
        <p14:creationId xmlns:p14="http://schemas.microsoft.com/office/powerpoint/2010/main" val="2706205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5A774-A6E2-A310-DB6A-36A07427A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4211D-7A43-8E5D-ED9E-DFC6F20887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1: Introduction</a:t>
            </a:r>
          </a:p>
        </p:txBody>
      </p:sp>
    </p:spTree>
    <p:extLst>
      <p:ext uri="{BB962C8B-B14F-4D97-AF65-F5344CB8AC3E}">
        <p14:creationId xmlns:p14="http://schemas.microsoft.com/office/powerpoint/2010/main" val="4232657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31E76-A685-C036-83C7-E30507C6D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25A5E-8538-00C1-E08F-02503B94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1.1. Problem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C4CF9-1556-4BBE-F9DB-55C79B1AA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Mushroom identification is difficult for beginners due to subtle similarities.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Traditional methods require prior knowledge and are prone to errors.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Misidentification can cause serious health risks.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Growing interest in foraging has increased demand for reliable, accessible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Existing digital solutions are often limited by high cost or restrictive freemium models.</a:t>
            </a:r>
          </a:p>
        </p:txBody>
      </p:sp>
    </p:spTree>
    <p:extLst>
      <p:ext uri="{BB962C8B-B14F-4D97-AF65-F5344CB8AC3E}">
        <p14:creationId xmlns:p14="http://schemas.microsoft.com/office/powerpoint/2010/main" val="39781426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3A85-4129-057B-6B13-47EE75A96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9298B-1C92-C439-0605-1BC1CD608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1.2. Purpose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5C8D7-2DA7-F4F6-1272-895F061CE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Develop a beginner friendly Android app for safe mushroom identification that support safe foraging practices and self-learning.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Provide real time image recognition using a server-side model with local result storage.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Include a keyword-searchable mushroom database.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Integrate an interactive forage map using iNaturalist community observations.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130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84C74-72E0-042F-9D28-B555A48E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264F-2157-DA18-EBAB-BC2F5F3DF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1.3. Objectives &amp;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DA986-CA72-2A75-3895-0456EC246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Objectives: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Build an app that delivers reliable AI-based identification.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Design a fast client server architecture with intuitive UI/UX.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Combine image inference, search, history, and map features.</a:t>
            </a:r>
          </a:p>
          <a:p>
            <a:r>
              <a:rPr lang="en-US" b="1" dirty="0"/>
              <a:t>Scope: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Android app using Flutter, server inference via PyTorch + Lightning.ai.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Local SQLite storage and a bundled JSON dataset.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Integration of iNaturalist API.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8206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FE205-4FC7-55D3-AC2F-4CB0AEFD1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A1A1C-6A60-40F5-E8B7-912C303244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3567" y="2601119"/>
            <a:ext cx="10029565" cy="1655762"/>
          </a:xfrm>
        </p:spPr>
        <p:txBody>
          <a:bodyPr/>
          <a:lstStyle/>
          <a:p>
            <a:r>
              <a:rPr lang="en-US" sz="6000" dirty="0"/>
              <a:t>Part 2: Theoretical basis &amp; systems analysis</a:t>
            </a:r>
          </a:p>
        </p:txBody>
      </p:sp>
    </p:spTree>
    <p:extLst>
      <p:ext uri="{BB962C8B-B14F-4D97-AF65-F5344CB8AC3E}">
        <p14:creationId xmlns:p14="http://schemas.microsoft.com/office/powerpoint/2010/main" val="3008911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A4504-EDCB-A1C7-48D8-FF95A3C7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5B619-5827-08B3-7CAF-0AC026DA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2.1. Key Technologies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BED76-3C30-8E02-5102-27B08E313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Flutter/Dart</a:t>
            </a:r>
            <a:r>
              <a:rPr lang="en-US" dirty="0"/>
              <a:t>: Cross-platform UI framework for fast Android development.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SQLite + JSON</a:t>
            </a:r>
            <a:r>
              <a:rPr lang="en-US" dirty="0"/>
              <a:t>: Local data storage and offline mushroom information.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OpenStreetMap + iNaturalist API</a:t>
            </a:r>
            <a:r>
              <a:rPr lang="en-US" dirty="0"/>
              <a:t>: Interactive map and community observations.</a:t>
            </a: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PyTorch + Transformers</a:t>
            </a:r>
            <a:r>
              <a:rPr lang="en-US" dirty="0"/>
              <a:t>: Training, deploying, and serving the ViT model.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FastAPI + LitServe (Lightning.ai)</a:t>
            </a:r>
            <a:r>
              <a:rPr lang="en-US" dirty="0"/>
              <a:t>: High-performance API layer for inference.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9608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3302F-2E3A-0B18-A55E-29D4E3309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05624-1CA7-765B-EB72-63043428E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2.2. Vision Transformer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0AC88-4913-68CD-4E45-70F0D66C5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Vision Transformer (ViT) Model (which model, add it here</a:t>
            </a:r>
            <a:r>
              <a:rPr lang="en-US" b="1"/>
              <a:t>, pre-trained </a:t>
            </a:r>
            <a:r>
              <a:rPr lang="en-US" b="1" dirty="0"/>
              <a:t>on?)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Image → split into patches → embedded as tokens.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Multi-Head Self-Attention captures global relationships.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CLS token produces final class prediction.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Higher accuracy than ResNet-50, EfficientNet and MobileNet on the custom dataset.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7825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0BF8C-2B1D-347D-08A0-5065EC162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01596-C9BF-FDEE-FF39-A9F8DD96F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Theoretical basis &amp; systems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AD8B6-ECCA-266A-0B15-B3B8B2A60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SLIDE 2 — Deep Learning Overview</a:t>
            </a:r>
          </a:p>
          <a:p>
            <a:r>
              <a:rPr lang="en-US" b="1" dirty="0"/>
              <a:t>Deep Learning</a:t>
            </a:r>
            <a:r>
              <a:rPr lang="en-US" dirty="0"/>
              <a:t>: Multi-layer neural networks for automatic feature extraction.</a:t>
            </a:r>
          </a:p>
          <a:p>
            <a:r>
              <a:rPr lang="en-US" b="1" dirty="0"/>
              <a:t>CNN vs ViT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CNN: local feature extraction, strong on structured patterns.</a:t>
            </a:r>
          </a:p>
          <a:p>
            <a:pPr lvl="1"/>
            <a:r>
              <a:rPr lang="en-US" dirty="0"/>
              <a:t>ViT: patch-based attention, better at global context and fine-grained differences.</a:t>
            </a:r>
          </a:p>
          <a:p>
            <a:r>
              <a:rPr lang="en-US" b="1" dirty="0"/>
              <a:t>Why ViT for mushrooms</a:t>
            </a:r>
            <a:r>
              <a:rPr lang="en-US" dirty="0"/>
              <a:t>: Handles subtle visual details and complex textures.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0318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A65E1-EB57-33D4-5329-EF6A85BA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39BB-25A5-5039-2D7E-5600DB53C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2.3. Dataset &amp; Augmentation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832EA-0B63-F12C-823F-D322ADA0A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Dataset</a:t>
            </a:r>
            <a:r>
              <a:rPr lang="en-US" dirty="0"/>
              <a:t>: 80 classes × 200 images each (16,000 total).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Sources</a:t>
            </a:r>
            <a:r>
              <a:rPr lang="en-US" dirty="0"/>
              <a:t>: iNaturalist, Kaggle, WildFoodUK, blogs.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Splits</a:t>
            </a:r>
            <a:r>
              <a:rPr lang="en-US" dirty="0"/>
              <a:t>: 80% training, 10% validation, 10% test.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Augmentation</a:t>
            </a:r>
            <a:r>
              <a:rPr lang="en-US" dirty="0"/>
              <a:t>: flips, rotate, brightness/contrast, hue/saturation, blur, noise, dropout.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64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657E2-2508-1741-5796-588B04983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833D-6189-C225-B32F-74230D48A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2.4. System Architecture Overview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14F15A-D21F-AE4D-8E26-02C6B7419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5" y="1733600"/>
            <a:ext cx="8235570" cy="438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704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675CB-3A0E-2913-E87E-30F846177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C7CE-59C8-5F34-DDEB-9AAA03E3A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2.5. Use Case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B1829-292D-839A-9F32-1DD59350F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4" y="1537222"/>
            <a:ext cx="8235569" cy="457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0782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82907-B227-2A14-138C-335CE049C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D38D4-0114-CEE7-414C-D4D114386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Main System Workflows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48E814-CCB2-0F07-8516-8835C5C8F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210" y="1477568"/>
            <a:ext cx="3690684" cy="4663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1060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FB9EF-BBF2-8C9F-0D5E-BB4847D8A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670AF-AD4D-B5DF-BDE6-606F46AD5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Main System Workflows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C39D5D-4E22-734E-0986-117BBD116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7729" y="1387340"/>
            <a:ext cx="7056311" cy="4762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0855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A32F1-EDE5-DF54-6A34-BDE1B4D61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7DC40-781E-C0F4-3098-175091509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Main System Workflows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A5DF38-472E-38BD-025C-23B1AFBEB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192" y="1325880"/>
            <a:ext cx="2503615" cy="489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968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B0C2A-3594-D1A5-8216-5DD2C3E71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856B5-E8E9-ACC5-2A0C-B0FEC126E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Main System Workflows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CC5329-F03B-8F37-62CE-90F839477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883" y="1477568"/>
            <a:ext cx="2618233" cy="4887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7403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AB9B4-D5AC-586A-3338-5EB4D7A25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FCEE4-2686-7CCC-6CF8-13233FBFB5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3: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42643554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A3830-8E7C-D348-499E-411624CFA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4D61C-15EB-BD3C-BA05-92C1D2606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UI 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9B73E7-E328-EC9A-AFA5-63970123C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91" y="1253905"/>
            <a:ext cx="2438740" cy="50108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3E5F31-9636-5700-8C62-BB8C34DA4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380" y="1206274"/>
            <a:ext cx="2514879" cy="50680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DAB63-94CC-519F-80FE-82A4CD5C94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208" y="1196748"/>
            <a:ext cx="2481699" cy="506800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B822AB-8CAE-4A39-3E4F-539A52FE8B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56" y="1196747"/>
            <a:ext cx="2495898" cy="506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3079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0A95D-7449-8411-C9CD-C0A4DD7FE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3D1BA-C836-EE3B-694B-F0E37731D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UI Implementation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85E7065-CC08-1CD3-4AC6-05F0E499B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630" y="1292011"/>
            <a:ext cx="2438740" cy="498227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E8DD7B-56C7-5953-4602-EC7D1E94C1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5425" y="1258668"/>
            <a:ext cx="2524477" cy="50203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E1B147A-0C79-C5D3-6F1E-B3C48885F7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1059" y="1263432"/>
            <a:ext cx="2486372" cy="501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726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C9BD9-267C-DA7E-5C53-3523265BB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24890-0ED0-4E85-0564-8F1949F12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UI Implementation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39772C4-FC63-794A-F104-90FF2F66BD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859" y="1259432"/>
            <a:ext cx="2429214" cy="50203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8FDF0AC-D880-3F08-9DAE-B9E97A7851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348" y="1225326"/>
            <a:ext cx="2457793" cy="504895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171769A-554D-0FD2-F5C2-BA4CBA2EE5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8242" y="1258668"/>
            <a:ext cx="2486372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740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7BBF-041F-B164-21EC-805ED609C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222E7-0D11-564D-7DD9-D6EECB724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UI Implementation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F73263-F735-26F2-EAE5-569160DBAE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822" y="1244378"/>
            <a:ext cx="2467319" cy="501084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656FAC5-4E35-E7EF-7F38-C3D57A6555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8242" y="1268194"/>
            <a:ext cx="2514951" cy="50394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3F5F15-323A-9242-BF3A-0424041F7C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8294" y="1234851"/>
            <a:ext cx="2505425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7407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D2A91-B7C9-FBDD-F4F6-02EB0DD80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004B7-7ABA-5B69-3D45-A6FD163A7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AI Model Implementation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5696010-87F6-3F27-61B8-028FFCB6B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9021375"/>
              </p:ext>
            </p:extLst>
          </p:nvPr>
        </p:nvGraphicFramePr>
        <p:xfrm>
          <a:off x="2948114" y="2622660"/>
          <a:ext cx="5537518" cy="16126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89062">
                  <a:extLst>
                    <a:ext uri="{9D8B030D-6E8A-4147-A177-3AD203B41FA5}">
                      <a16:colId xmlns:a16="http://schemas.microsoft.com/office/drawing/2014/main" val="407672397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08982252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79730080"/>
                    </a:ext>
                  </a:extLst>
                </a:gridCol>
                <a:gridCol w="1042416">
                  <a:extLst>
                    <a:ext uri="{9D8B030D-6E8A-4147-A177-3AD203B41FA5}">
                      <a16:colId xmlns:a16="http://schemas.microsoft.com/office/drawing/2014/main" val="3724914705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157743554"/>
                    </a:ext>
                  </a:extLst>
                </a:gridCol>
              </a:tblGrid>
              <a:tr h="32253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 dirty="0">
                          <a:effectLst/>
                        </a:rPr>
                        <a:t>Model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Precision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Recall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 dirty="0">
                          <a:effectLst/>
                        </a:rPr>
                        <a:t>F1 Score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AUC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831290136"/>
                  </a:ext>
                </a:extLst>
              </a:tr>
              <a:tr h="322536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dirty="0">
                          <a:effectLst/>
                        </a:rPr>
                        <a:t>ViT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0.89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0.88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0.88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0.998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53368255"/>
                  </a:ext>
                </a:extLst>
              </a:tr>
              <a:tr h="322536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dirty="0">
                          <a:effectLst/>
                        </a:rPr>
                        <a:t>ResNet-50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 dirty="0">
                          <a:effectLst/>
                        </a:rPr>
                        <a:t>0.85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0.84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0.84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 dirty="0">
                          <a:effectLst/>
                        </a:rPr>
                        <a:t>0.997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49266387"/>
                  </a:ext>
                </a:extLst>
              </a:tr>
              <a:tr h="322536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dirty="0">
                          <a:effectLst/>
                        </a:rPr>
                        <a:t>EfficientNetB4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0.84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0.83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>
                          <a:effectLst/>
                        </a:rPr>
                        <a:t>0.83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 dirty="0">
                          <a:effectLst/>
                        </a:rPr>
                        <a:t>0.996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48081925"/>
                  </a:ext>
                </a:extLst>
              </a:tr>
              <a:tr h="322536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dirty="0">
                          <a:effectLst/>
                        </a:rPr>
                        <a:t>MobileNetV3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 dirty="0">
                          <a:effectLst/>
                        </a:rPr>
                        <a:t>0.83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 dirty="0">
                          <a:effectLst/>
                        </a:rPr>
                        <a:t>0.82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 dirty="0">
                          <a:effectLst/>
                        </a:rPr>
                        <a:t>0.82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600" dirty="0">
                          <a:effectLst/>
                        </a:rPr>
                        <a:t>0.995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83954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70649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9BC7D-BE0F-1758-A158-4EB0898F9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F2EBE-CECA-E5D4-562B-5D855B0FD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AI Model 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0451C-8AF5-3A88-62C8-35FF905F7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1313" y="1618932"/>
            <a:ext cx="5249723" cy="404307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DB71698-2F97-9ADC-8FA2-A833C9E8D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964" y="1618932"/>
            <a:ext cx="5196206" cy="4043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8241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3C3-B0A6-8CAD-CDF0-1B7222724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FFEAF-7CF2-C4FF-8113-EEFCF5252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AI Model Implementation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6287B1-B112-7A50-0521-992762F7EC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1434" y="1477568"/>
            <a:ext cx="6009132" cy="4506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4498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12FB0-38EA-B7AE-6833-E20CBB77A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16FC7-E2DE-3426-A10C-73C2DDF097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4: Conclusion</a:t>
            </a:r>
          </a:p>
        </p:txBody>
      </p:sp>
    </p:spTree>
    <p:extLst>
      <p:ext uri="{BB962C8B-B14F-4D97-AF65-F5344CB8AC3E}">
        <p14:creationId xmlns:p14="http://schemas.microsoft.com/office/powerpoint/2010/main" val="29572578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28F7E-9D6F-2120-E78A-477783B51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E1780-2A4A-44E1-B4F7-2BDAA9B60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noProof="0" dirty="0"/>
              <a:t>4.1. Achieved Results &amp; Limitations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D77B8-8BAF-9CFD-1DC5-392E71D52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noProof="0" dirty="0"/>
              <a:t>ACHIVED RESULTS: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Developed a </a:t>
            </a:r>
            <a:r>
              <a:rPr lang="en-US" dirty="0"/>
              <a:t>beginner-friendly Android app for mushroom identification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Real-Time image </a:t>
            </a:r>
            <a:r>
              <a:rPr lang="en-US" dirty="0"/>
              <a:t>recognition using a server-side ViT model with local storage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Keyword search powered by a bundled JSON 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Interactable map integrated with iNaturalist API.</a:t>
            </a:r>
            <a:endParaRPr lang="en-US" noProof="0" dirty="0"/>
          </a:p>
          <a:p>
            <a:r>
              <a:rPr lang="en-US" b="1" noProof="0" dirty="0"/>
              <a:t>CURRENT LIMITATIONS: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Limited and undiversified training data</a:t>
            </a:r>
            <a:r>
              <a:rPr lang="en-US" dirty="0"/>
              <a:t>, </a:t>
            </a:r>
            <a:r>
              <a:rPr lang="en-US" noProof="0" dirty="0"/>
              <a:t>overfitting not fully mitigated.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The current ViT model has yet achieved desired accuracy on all classes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Some features remain incomplete or underdeveloped</a:t>
            </a:r>
            <a:endParaRPr lang="en-US" b="1" noProof="0" dirty="0"/>
          </a:p>
          <a:p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41413509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B4DBD-D3A4-447B-30DD-2B40A65AF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B1CDB-ABEF-CC2D-41A1-248B0337A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4.2. Development Direction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E5643-BF72-C87F-968B-05148AC42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DEVELOPMENT DIRECTION: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0" dirty="0"/>
              <a:t>Expand recognition to more wild edibles using multi-task or speciated models.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Use larger ViT variants for higher reliability.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Increase and improve the dataset and augmentation to reduce overfitting.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Upgrade keyword search to a natural-language chatbot with a small LLM.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Add iNaturalist user-contributed observations to enrich the forage map.</a:t>
            </a:r>
          </a:p>
        </p:txBody>
      </p:sp>
    </p:spTree>
    <p:extLst>
      <p:ext uri="{BB962C8B-B14F-4D97-AF65-F5344CB8AC3E}">
        <p14:creationId xmlns:p14="http://schemas.microsoft.com/office/powerpoint/2010/main" val="26850692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981F-8DDB-4942-9095-1A301A930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THANK YOU VERY MUCH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DE8CBC-CC0F-41DD-9762-03FD26D3B0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vi-VN" dirty="0"/>
              <a:t>Can Tho University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482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0988A-D0E1-75AB-220F-9387E0741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B7F25-6628-CF27-C5CA-22FEF4B89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30AE2-833A-8EEB-48FC-93F020F71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1554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itle 77">
            <a:extLst>
              <a:ext uri="{FF2B5EF4-FFF2-40B4-BE49-F238E27FC236}">
                <a16:creationId xmlns:a16="http://schemas.microsoft.com/office/drawing/2014/main" id="{501A25FC-5A3B-300D-8001-38AC2982CF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9" name="Subtitle 78">
            <a:extLst>
              <a:ext uri="{FF2B5EF4-FFF2-40B4-BE49-F238E27FC236}">
                <a16:creationId xmlns:a16="http://schemas.microsoft.com/office/drawing/2014/main" id="{25975101-BA6B-3E8F-BACA-58D4B16FBF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9" name="Picture Placeholder 58">
            <a:extLst>
              <a:ext uri="{FF2B5EF4-FFF2-40B4-BE49-F238E27FC236}">
                <a16:creationId xmlns:a16="http://schemas.microsoft.com/office/drawing/2014/main" id="{C711BF57-35D0-306D-9C25-BF112354CB4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3015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5151</TotalTime>
  <Words>796</Words>
  <Application>Microsoft Office PowerPoint</Application>
  <PresentationFormat>Widescreen</PresentationFormat>
  <Paragraphs>140</Paragraphs>
  <Slides>31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Aptos</vt:lpstr>
      <vt:lpstr>Arial</vt:lpstr>
      <vt:lpstr>Barlow</vt:lpstr>
      <vt:lpstr>K2D</vt:lpstr>
      <vt:lpstr>Readex Pro</vt:lpstr>
      <vt:lpstr>Times New Roman</vt:lpstr>
      <vt:lpstr>Office Theme</vt:lpstr>
      <vt:lpstr>CAN THO UNIVERSITY SCHOOL OF INFORMATION &amp; COMMUNICATION TECHNOLOGY INFORMATION TECHNOLOGY HIGH-QUALITY PROGRAM</vt:lpstr>
      <vt:lpstr>Content</vt:lpstr>
      <vt:lpstr>Part 1: Introduction</vt:lpstr>
      <vt:lpstr>1.1. Problem Description</vt:lpstr>
      <vt:lpstr>1.2. Purpose of the Study</vt:lpstr>
      <vt:lpstr>1.3. Objectives &amp; Scope</vt:lpstr>
      <vt:lpstr>Part 2: Theoretical basis &amp; systems analysis</vt:lpstr>
      <vt:lpstr>2.1. Key Technologies </vt:lpstr>
      <vt:lpstr>2.2. Vision Transformer Model</vt:lpstr>
      <vt:lpstr>Theoretical basis &amp; systems analysis</vt:lpstr>
      <vt:lpstr>2.3. Dataset &amp; Augmentation</vt:lpstr>
      <vt:lpstr>2.4. System Architecture Overview</vt:lpstr>
      <vt:lpstr>2.5. Use Case Overview</vt:lpstr>
      <vt:lpstr>2.6. Main System Workflows</vt:lpstr>
      <vt:lpstr>2.6. Main System Workflows</vt:lpstr>
      <vt:lpstr>2.6. Main System Workflows</vt:lpstr>
      <vt:lpstr>2.6. Main System Workflows</vt:lpstr>
      <vt:lpstr>Part 3: Implementation</vt:lpstr>
      <vt:lpstr>3.1. UI Implementation</vt:lpstr>
      <vt:lpstr>3.1. UI Implementation</vt:lpstr>
      <vt:lpstr>3.1. UI Implementation</vt:lpstr>
      <vt:lpstr>3.1. UI Implementation</vt:lpstr>
      <vt:lpstr>3.2. AI Model Implementation</vt:lpstr>
      <vt:lpstr>3.2. AI Model Implementation</vt:lpstr>
      <vt:lpstr>3.2. AI Model Implementation</vt:lpstr>
      <vt:lpstr>Part 4: Conclusion</vt:lpstr>
      <vt:lpstr>4.1. Achieved Results &amp; Limitations </vt:lpstr>
      <vt:lpstr>4.2. Development Direction </vt:lpstr>
      <vt:lpstr>THANK YOU VERY MUCH</vt:lpstr>
      <vt:lpstr>PowerPoint Presentation</vt:lpstr>
      <vt:lpstr>PowerPoint Presentation</vt:lpstr>
    </vt:vector>
  </TitlesOfParts>
  <Company>Can Tho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PowerPointTemplate_Blank</dc:title>
  <dc:creator>CTU Media</dc:creator>
  <cp:lastModifiedBy>ASUS</cp:lastModifiedBy>
  <cp:revision>389</cp:revision>
  <dcterms:created xsi:type="dcterms:W3CDTF">2022-07-01T08:15:51Z</dcterms:created>
  <dcterms:modified xsi:type="dcterms:W3CDTF">2025-12-11T10:32:05Z</dcterms:modified>
</cp:coreProperties>
</file>