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300" r:id="rId10"/>
    <p:sldId id="299" r:id="rId11"/>
    <p:sldId id="292" r:id="rId12"/>
    <p:sldId id="296" r:id="rId13"/>
    <p:sldId id="293" r:id="rId14"/>
    <p:sldId id="294" r:id="rId15"/>
    <p:sldId id="295" r:id="rId16"/>
    <p:sldId id="298" r:id="rId17"/>
    <p:sldId id="297" r:id="rId18"/>
    <p:sldId id="274" r:id="rId19"/>
    <p:sldId id="275" r:id="rId20"/>
    <p:sldId id="276" r:id="rId21"/>
    <p:sldId id="277" r:id="rId22"/>
    <p:sldId id="278" r:id="rId23"/>
    <p:sldId id="285" r:id="rId24"/>
    <p:sldId id="279" r:id="rId25"/>
    <p:sldId id="273" r:id="rId26"/>
    <p:sldId id="272" r:id="rId27"/>
    <p:sldId id="270" r:id="rId28"/>
    <p:sldId id="261" r:id="rId29"/>
    <p:sldId id="283" r:id="rId30"/>
    <p:sldId id="26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73" autoAdjust="0"/>
  </p:normalViewPr>
  <p:slideViewPr>
    <p:cSldViewPr snapToGrid="0">
      <p:cViewPr varScale="1">
        <p:scale>
          <a:sx n="105" d="100"/>
          <a:sy n="105" d="100"/>
        </p:scale>
        <p:origin x="75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10/12/2025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51B75-5016-E0F5-3F50-727C5F95D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ED50A-F9FB-6B1A-38D7-09FACB191E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58EB54-B6CF-045A-B085-8BB7A769A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D3086-2EBA-D0F7-53FD-66A44F1E4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391485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Achived</a:t>
            </a:r>
            <a:r>
              <a:rPr lang="en-US" dirty="0"/>
              <a:t> results:</a:t>
            </a:r>
            <a:br>
              <a:rPr lang="en-US" dirty="0"/>
            </a:br>
            <a:r>
              <a:rPr lang="en-US" dirty="0"/>
              <a:t>2. local **result** storage</a:t>
            </a:r>
          </a:p>
          <a:p>
            <a:endParaRPr lang="en-US" dirty="0"/>
          </a:p>
          <a:p>
            <a:r>
              <a:rPr lang="en-US" dirty="0"/>
              <a:t>Current limitations:</a:t>
            </a:r>
            <a:br>
              <a:rPr lang="en-US" dirty="0"/>
            </a:br>
            <a:r>
              <a:rPr lang="en-US" dirty="0"/>
              <a:t>3. which are the search feature and forage map.</a:t>
            </a: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Either through a multi-task model or a separate specialized classifier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AB08-621F-8577-F090-3BDB87915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51E21-D4E8-E118-5E5C-DE8E6BA70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516DC-59A5-03E2-C0FF-CF883EC3F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375FE-AF65-AD32-7A9B-1FCC6C3DC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28160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10-Dec-25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10-Dec-25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b="1" dirty="0"/>
              <a:t>DEVELOPING A MUSHROOM IDENTIFICATION </a:t>
            </a:r>
          </a:p>
          <a:p>
            <a:r>
              <a:rPr lang="en-US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492125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Problem Description</a:t>
            </a:r>
          </a:p>
          <a:p>
            <a:r>
              <a:rPr lang="en-US" dirty="0"/>
              <a:t>Mushroom identification is difficult for beginners due to subtle visual similarities.</a:t>
            </a:r>
          </a:p>
          <a:p>
            <a:r>
              <a:rPr lang="en-US" dirty="0"/>
              <a:t>Misidentification can cause serious health risks and poisoning.</a:t>
            </a:r>
          </a:p>
          <a:p>
            <a:r>
              <a:rPr lang="en-US" dirty="0"/>
              <a:t>Traditional methods require prior knowledge and are prone to errors.</a:t>
            </a:r>
          </a:p>
          <a:p>
            <a:r>
              <a:rPr lang="en-US" dirty="0"/>
              <a:t>Growing interest in outdoor activities increases demand for accessible identification tools.</a:t>
            </a:r>
          </a:p>
          <a:p>
            <a:r>
              <a:rPr lang="en-US" dirty="0"/>
              <a:t>Image-based tools alone are not enough; users also need search and location-based context.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Purpose of the Study</a:t>
            </a:r>
          </a:p>
          <a:p>
            <a:r>
              <a:rPr lang="en-US" dirty="0"/>
              <a:t>Develop </a:t>
            </a:r>
            <a:r>
              <a:rPr lang="en-US" i="1" dirty="0"/>
              <a:t>FungiScan</a:t>
            </a:r>
            <a:r>
              <a:rPr lang="en-US" dirty="0"/>
              <a:t>, a beginner-friendly Android app for safe mushroom identification.</a:t>
            </a:r>
          </a:p>
          <a:p>
            <a:r>
              <a:rPr lang="en-US" dirty="0"/>
              <a:t>Provide real-time image recognition using a server-side ViT model.</a:t>
            </a:r>
          </a:p>
          <a:p>
            <a:r>
              <a:rPr lang="en-US" dirty="0"/>
              <a:t>Include a keyword-searchable mushroom database for offline exploration.</a:t>
            </a:r>
          </a:p>
          <a:p>
            <a:r>
              <a:rPr lang="en-US" dirty="0"/>
              <a:t>Integrate an interactive forage map using iNaturalist community observations.</a:t>
            </a:r>
          </a:p>
          <a:p>
            <a:r>
              <a:rPr lang="en-US" dirty="0"/>
              <a:t>Support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 &amp; Scope Objectives</a:t>
            </a:r>
            <a:endParaRPr lang="en-US" dirty="0"/>
          </a:p>
          <a:p>
            <a:r>
              <a:rPr lang="en-US" dirty="0"/>
              <a:t>Build an app that delivers reliable AI-based identification.</a:t>
            </a:r>
          </a:p>
          <a:p>
            <a:r>
              <a:rPr lang="en-US" dirty="0"/>
              <a:t>Design a fast client–server architecture with intuitive UI/UX.</a:t>
            </a:r>
          </a:p>
          <a:p>
            <a:r>
              <a:rPr lang="en-US" dirty="0"/>
              <a:t>Combine image inference, search, history, and map features.</a:t>
            </a:r>
          </a:p>
          <a:p>
            <a:r>
              <a:rPr lang="en-US" b="1" dirty="0"/>
              <a:t>Scope</a:t>
            </a:r>
            <a:endParaRPr lang="en-US" dirty="0"/>
          </a:p>
          <a:p>
            <a:r>
              <a:rPr lang="en-US" dirty="0"/>
              <a:t>Android app using Flutter; server inference via PyTorch + Lightning.ai.</a:t>
            </a:r>
          </a:p>
          <a:p>
            <a:r>
              <a:rPr lang="en-US" dirty="0"/>
              <a:t>Local SQLite storage and a bundled JSON dataset.</a:t>
            </a:r>
          </a:p>
          <a:p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Key Technologies Used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Transformers</a:t>
            </a:r>
            <a:r>
              <a:rPr lang="en-US" dirty="0"/>
              <a:t>: Training, deploying, and serving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High-performance API layer for inference.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0BF8C-2B1D-347D-08A0-5065EC162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01596-C9BF-FDEE-FF39-A9F8DD96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AD8B6-ECCA-266A-0B15-B3B8B2A60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SLIDE 2 — Deep Learning Overview</a:t>
            </a:r>
          </a:p>
          <a:p>
            <a:r>
              <a:rPr lang="en-US" b="1" dirty="0"/>
              <a:t>Deep Learning</a:t>
            </a:r>
            <a:r>
              <a:rPr lang="en-US" dirty="0"/>
              <a:t>: Multi-layer neural networks for automatic feature extraction.</a:t>
            </a:r>
          </a:p>
          <a:p>
            <a:r>
              <a:rPr lang="en-US" b="1" dirty="0"/>
              <a:t>CNN vs ViT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CNN: local feature extraction, strong on structured patterns.</a:t>
            </a:r>
          </a:p>
          <a:p>
            <a:pPr lvl="1"/>
            <a:r>
              <a:rPr lang="en-US" dirty="0"/>
              <a:t>ViT: patch-based attention, better at global context and fine-grained differences.</a:t>
            </a:r>
          </a:p>
          <a:p>
            <a:r>
              <a:rPr lang="en-US" b="1" dirty="0"/>
              <a:t>Why ViT for mushrooms</a:t>
            </a:r>
            <a:r>
              <a:rPr lang="en-US" dirty="0"/>
              <a:t>: Handles subtle visual details and complex textures.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031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Vision Transformer (ViT) Model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Image → split into patches → embedded as tokens.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Multi-Head Self-Attention captures global relationships.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CLS token produces final class prediction.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Higher accuracy than ResNet-50, EfficientNet and </a:t>
            </a:r>
            <a:r>
              <a:rPr lang="en-US" dirty="0" err="1"/>
              <a:t>MobileNet</a:t>
            </a:r>
            <a:r>
              <a:rPr lang="en-US" dirty="0"/>
              <a:t> on the custom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Dataset &amp; Augmentation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</a:t>
            </a:r>
            <a:r>
              <a:rPr lang="en-US" dirty="0" err="1"/>
              <a:t>WildFoodUK</a:t>
            </a:r>
            <a:r>
              <a:rPr lang="en-US" dirty="0"/>
              <a:t>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E6973-111A-B8E5-81AA-5B869417B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 ARCHITECTURE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14F15A-D21F-AE4D-8E26-02C6B7419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790" y="2066957"/>
            <a:ext cx="7269164" cy="386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F7C4-BB45-1027-A6CA-34F5CA1C9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Case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623" y="1651304"/>
            <a:ext cx="7647792" cy="425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CA2FB-9F6C-654D-BDAF-4C7F1ABC9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236" y="681037"/>
            <a:ext cx="3498215" cy="522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5176D-C3F1-43AE-1A3A-ECE83AAE3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System Workflows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569" y="1241036"/>
            <a:ext cx="6797231" cy="4587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42FAB-97B1-E9A8-2CCC-04E3C3632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System Workflows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641" y="913448"/>
            <a:ext cx="2239645" cy="5263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30E25-A3DF-08EE-0918-7F6A8461B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System Workflows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79" y="1106423"/>
            <a:ext cx="2562027" cy="522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0120BF-173F-825E-6E45-4F696F724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119" y="1642071"/>
            <a:ext cx="1698625" cy="37744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7E41AE-9803-33AE-A341-ED3CEEC1F6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627" y="1568704"/>
            <a:ext cx="1929130" cy="42875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644662-7685-9226-8619-32505844E2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4009" y="1642071"/>
            <a:ext cx="1924685" cy="42767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AB2768-94AD-B7FA-F930-1A733E656DC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5492" y="1477568"/>
            <a:ext cx="1925320" cy="42792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156EE5-344F-DA7E-2183-7C4665FACC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329" y="1477568"/>
            <a:ext cx="1924685" cy="42767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D6636AF-ED39-0021-F43F-E655BC56F9E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143" y="1562100"/>
            <a:ext cx="1927225" cy="42824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21D39B-B647-DB8E-517D-9DB9AFA896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9974" y="1423593"/>
            <a:ext cx="1927860" cy="42849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72F6ED-AB44-DFBD-137A-EB5E210FD5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621" y="1434725"/>
            <a:ext cx="1921510" cy="42697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57E811-D613-8CFD-7625-88733628BE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113" y="1379817"/>
            <a:ext cx="1926590" cy="4281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814C70-0F71-7DB0-85CD-CDC78A47B0B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2903" y="1454877"/>
            <a:ext cx="1922145" cy="42722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D39AFB-7EDE-0146-243A-2D294F6AE1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165" y="1604645"/>
            <a:ext cx="1929765" cy="42887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70F0FA-726B-4039-6481-3BEDCF5DA1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1224" y="1659509"/>
            <a:ext cx="1930400" cy="428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AEB19F-79AD-4399-80F1-933EC6DEA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908" y="1477568"/>
            <a:ext cx="1925320" cy="42792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696010-87F6-3F27-61B8-028FFCB6B134}"/>
              </a:ext>
            </a:extLst>
          </p:cNvPr>
          <p:cNvGraphicFramePr>
            <a:graphicFrameLocks noGrp="1"/>
          </p:cNvGraphicFramePr>
          <p:nvPr/>
        </p:nvGraphicFramePr>
        <p:xfrm>
          <a:off x="1073594" y="1496282"/>
          <a:ext cx="4064635" cy="914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69340">
                  <a:extLst>
                    <a:ext uri="{9D8B030D-6E8A-4147-A177-3AD203B41FA5}">
                      <a16:colId xmlns:a16="http://schemas.microsoft.com/office/drawing/2014/main" val="4076723973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3089822522"/>
                    </a:ext>
                  </a:extLst>
                </a:gridCol>
                <a:gridCol w="745490">
                  <a:extLst>
                    <a:ext uri="{9D8B030D-6E8A-4147-A177-3AD203B41FA5}">
                      <a16:colId xmlns:a16="http://schemas.microsoft.com/office/drawing/2014/main" val="79730080"/>
                    </a:ext>
                  </a:extLst>
                </a:gridCol>
                <a:gridCol w="737870">
                  <a:extLst>
                    <a:ext uri="{9D8B030D-6E8A-4147-A177-3AD203B41FA5}">
                      <a16:colId xmlns:a16="http://schemas.microsoft.com/office/drawing/2014/main" val="3724914705"/>
                    </a:ext>
                  </a:extLst>
                </a:gridCol>
                <a:gridCol w="732790">
                  <a:extLst>
                    <a:ext uri="{9D8B030D-6E8A-4147-A177-3AD203B41FA5}">
                      <a16:colId xmlns:a16="http://schemas.microsoft.com/office/drawing/2014/main" val="21577435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Model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Precision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Recall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F1 Score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AUC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31290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ViT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0.88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0.88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0.998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53368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ResNet-50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0.997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49266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EfficientNetB4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0.996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48081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MobileNetV3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</a:rPr>
                        <a:t>0.82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effectLst/>
                        </a:rPr>
                        <a:t>0.995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83954571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DB71698-2F97-9ADC-8FA2-A833C9E8D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96282"/>
            <a:ext cx="4652645" cy="3620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3039" y="2001774"/>
            <a:ext cx="4679950" cy="3604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D31D36-05C3-2ABC-4436-43DF3075B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76" y="2100396"/>
            <a:ext cx="4064635" cy="304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Conclusion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DEVELOPMENT DIRECTION: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0988A-D0E1-75AB-220F-9387E074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7F25-6628-CF27-C5CA-22FEF4B89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30AE2-833A-8EEB-48FC-93F020F71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1554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icture Placeholder 79">
            <a:extLst>
              <a:ext uri="{FF2B5EF4-FFF2-40B4-BE49-F238E27FC236}">
                <a16:creationId xmlns:a16="http://schemas.microsoft.com/office/drawing/2014/main" id="{F093B2DB-8BE8-A46A-4714-37C5898CB6F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8" name="Title 77">
            <a:extLst>
              <a:ext uri="{FF2B5EF4-FFF2-40B4-BE49-F238E27FC236}">
                <a16:creationId xmlns:a16="http://schemas.microsoft.com/office/drawing/2014/main" id="{501A25FC-5A3B-300D-8001-38AC2982C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9" name="Subtitle 78">
            <a:extLst>
              <a:ext uri="{FF2B5EF4-FFF2-40B4-BE49-F238E27FC236}">
                <a16:creationId xmlns:a16="http://schemas.microsoft.com/office/drawing/2014/main" id="{25975101-BA6B-3E8F-BACA-58D4B16FB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1" name="Picture Placeholder 80">
            <a:extLst>
              <a:ext uri="{FF2B5EF4-FFF2-40B4-BE49-F238E27FC236}">
                <a16:creationId xmlns:a16="http://schemas.microsoft.com/office/drawing/2014/main" id="{712CDDDF-DB29-99C8-A185-54F6B0FCAF4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>
            <a:normAutofit fontScale="250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301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5071</TotalTime>
  <Words>797</Words>
  <Application>Microsoft Office PowerPoint</Application>
  <PresentationFormat>Widescreen</PresentationFormat>
  <Paragraphs>150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Arial</vt:lpstr>
      <vt:lpstr>Barlow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Introduction</vt:lpstr>
      <vt:lpstr>Introduction</vt:lpstr>
      <vt:lpstr>Introduction</vt:lpstr>
      <vt:lpstr>Part 2: 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Theoretical basis &amp; systems analysis</vt:lpstr>
      <vt:lpstr>Part 3: Implementation</vt:lpstr>
      <vt:lpstr>3.1. UI Implementation</vt:lpstr>
      <vt:lpstr>3.1. UI Implementation</vt:lpstr>
      <vt:lpstr>3.1. UI Implementation</vt:lpstr>
      <vt:lpstr>3.1. UI Implementation</vt:lpstr>
      <vt:lpstr>3.2. AI Model Implementation</vt:lpstr>
      <vt:lpstr>3.2. AI Model Implementation</vt:lpstr>
      <vt:lpstr>Part 4: Conclusion</vt:lpstr>
      <vt:lpstr>Conclusion</vt:lpstr>
      <vt:lpstr>Conclusion </vt:lpstr>
      <vt:lpstr>THANK YOU VERY MUCH</vt:lpstr>
      <vt:lpstr>PowerPoint Presentation</vt:lpstr>
      <vt:lpstr>PowerPoint Presentation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332</cp:revision>
  <dcterms:created xsi:type="dcterms:W3CDTF">2022-07-01T08:15:51Z</dcterms:created>
  <dcterms:modified xsi:type="dcterms:W3CDTF">2025-12-10T12:52:44Z</dcterms:modified>
</cp:coreProperties>
</file>