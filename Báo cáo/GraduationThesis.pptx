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296" r:id="rId12"/>
    <p:sldId id="293" r:id="rId13"/>
    <p:sldId id="294" r:id="rId14"/>
    <p:sldId id="295" r:id="rId15"/>
    <p:sldId id="298" r:id="rId16"/>
    <p:sldId id="297" r:id="rId17"/>
    <p:sldId id="274" r:id="rId18"/>
    <p:sldId id="303" r:id="rId19"/>
    <p:sldId id="304" r:id="rId20"/>
    <p:sldId id="305" r:id="rId21"/>
    <p:sldId id="285" r:id="rId22"/>
    <p:sldId id="275" r:id="rId23"/>
    <p:sldId id="276" r:id="rId24"/>
    <p:sldId id="277" r:id="rId25"/>
    <p:sldId id="278" r:id="rId26"/>
    <p:sldId id="273" r:id="rId27"/>
    <p:sldId id="272" r:id="rId28"/>
    <p:sldId id="270" r:id="rId29"/>
    <p:sldId id="26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5033" autoAdjust="0"/>
  </p:normalViewPr>
  <p:slideViewPr>
    <p:cSldViewPr snapToGrid="0">
      <p:cViewPr varScale="1">
        <p:scale>
          <a:sx n="111" d="100"/>
          <a:sy n="111" d="100"/>
        </p:scale>
        <p:origin x="516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18/12/2025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 everyone, I am Quang Vinh, thanks for coming to my thesis defense presentation today,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is consists of 4 parts:</a:t>
            </a:r>
          </a:p>
          <a:p>
            <a:r>
              <a:rPr lang="en-US" dirty="0"/>
              <a:t>1. The Introduction</a:t>
            </a:r>
          </a:p>
          <a:p>
            <a:r>
              <a:rPr lang="en-US" dirty="0"/>
              <a:t>2. Then Theoretical basis and systems analysis</a:t>
            </a:r>
          </a:p>
          <a:p>
            <a:r>
              <a:rPr lang="en-US" dirty="0"/>
              <a:t>3. Then Implementation</a:t>
            </a:r>
          </a:p>
          <a:p>
            <a:r>
              <a:rPr lang="en-US" dirty="0"/>
              <a:t>4. And finally the Conclusion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Mushroom identification is known to be a difficult task for beginners - due how similar most species look, which can lead to possibly lethal errors EVEN with prior knowledge.</a:t>
            </a:r>
          </a:p>
          <a:p>
            <a:endParaRPr lang="en-US" dirty="0"/>
          </a:p>
          <a:p>
            <a:r>
              <a:rPr lang="en-US" dirty="0"/>
              <a:t>And with the increase in interest for foraging hobby, there has been demand for an accessible and beginner-friendly tool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That does not have the users dealing with an expensive subscription  or a restrictive freemium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which aims to develop a beginner-friendly Android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mushroom identification and also promotes safe foraging practices, and self-learning for the hobby.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Objectives of the thesis is to :</a:t>
            </a:r>
            <a:br>
              <a:rPr lang="en-US" dirty="0"/>
            </a:br>
            <a:r>
              <a:rPr lang="en-US" dirty="0"/>
              <a:t>1. Build an app that combine AI-based image identification that stored results locally </a:t>
            </a:r>
          </a:p>
          <a:p>
            <a:r>
              <a:rPr lang="en-US" dirty="0"/>
              <a:t>2. with a search feature and interactable forage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and  integrated with the iNaturalist API.</a:t>
            </a:r>
          </a:p>
          <a:p>
            <a:r>
              <a:rPr lang="en-US" dirty="0">
                <a:effectLst/>
              </a:rPr>
              <a:t>2. With server inference task done via PyTorch on Lightning.ai server</a:t>
            </a:r>
          </a:p>
          <a:p>
            <a:r>
              <a:rPr lang="en-US" dirty="0">
                <a:effectLst/>
              </a:rPr>
              <a:t>3. And local storage is handled by SQLite and bundled JSON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Data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AI model</a:t>
            </a:r>
          </a:p>
          <a:p>
            <a:r>
              <a:rPr lang="en-US" dirty="0"/>
              <a:t>5. And FastAPI with LitServe on Lightning.ai for deploying the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Google – Vit-base-patch16, pretrained on ImageNet-21k dataset:</a:t>
            </a:r>
          </a:p>
          <a:p>
            <a:pPr marL="228600" indent="-228600">
              <a:buAutoNum type="arabicPeriod"/>
            </a:pPr>
            <a:r>
              <a:rPr lang="en-US" dirty="0"/>
              <a:t>Chosen for being lightweight</a:t>
            </a:r>
          </a:p>
          <a:p>
            <a:pPr marL="228600" indent="-228600">
              <a:buAutoNum type="arabicPeriod"/>
            </a:pPr>
            <a:r>
              <a:rPr lang="en-US" dirty="0"/>
              <a:t>While offer good performance on identifying subtle details and complex textures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consists of 80 classes with 200 samples each resulting in exactly 16,000 samples total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 public dataset, WildFoodUK site and various other personal blogs.</a:t>
            </a:r>
          </a:p>
          <a:p>
            <a:pPr marL="228600" indent="-228600">
              <a:buAutoNum type="arabicPeriod"/>
            </a:pPr>
            <a:r>
              <a:rPr lang="en-US" dirty="0"/>
              <a:t>The Dataset is split with the ratio 8:1:1 for the train, validate and test set respectively</a:t>
            </a:r>
          </a:p>
          <a:p>
            <a:pPr marL="228600" indent="-228600">
              <a:buAutoNum type="arabicPeriod"/>
            </a:pPr>
            <a:r>
              <a:rPr lang="en-US" dirty="0"/>
              <a:t>The Augmentation is applied to the train set just before training to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improve generalization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subsequence slides show the overview of the system architecture,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Mushroom identification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Search feature workflow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Forage map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Model is evaluated on the metric of precision, recall and F1 score for each of the 80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the average is calculated across all classes to ensure equal class contribution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AUC value also follows the same macro-averaging approach across all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result of the implementation has the ViT model achieved consistently higher scores, than all baseline models on the custom dataset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slides are result of the UI implementation for the Mushroom identification feature,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end, the thesis </a:t>
            </a:r>
            <a:r>
              <a:rPr lang="en-US" dirty="0">
                <a:effectLst/>
              </a:rPr>
              <a:t>successfully delivered a beginner-friendly Android application that features: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Real-time image recognition with local result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A Keyword-searchable mushroom feature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 API.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/>
              <a:t>As for the </a:t>
            </a:r>
            <a:r>
              <a:rPr lang="en-US" dirty="0">
                <a:effectLst/>
              </a:rPr>
              <a:t>limitations which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Low accuracy on certain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And some features remain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For future improvements, I plan to:</a:t>
            </a:r>
          </a:p>
          <a:p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noProof="0" dirty="0"/>
              <a:t>1. Expand recognition feature other wild edibles.</a:t>
            </a: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2. Use larger ViT variants for better performance.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3. Improve the dataset and augmentation strategy to reduce overfitting.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4. Upgrade keyword search feature to a chatbot.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5. Add a user-submitted observation to iNaturalist feature to the forage map.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18-Dec-25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sz="3500" b="1" dirty="0"/>
              <a:t>DEVELOPING A MUSHROOM IDENTIFICATION </a:t>
            </a:r>
          </a:p>
          <a:p>
            <a:r>
              <a:rPr lang="en-US" sz="3500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Part 1: </a:t>
            </a:r>
            <a:r>
              <a:rPr lang="en-US" sz="3200" dirty="0"/>
              <a:t>Introduction</a:t>
            </a:r>
          </a:p>
          <a:p>
            <a:r>
              <a:rPr lang="en-US" sz="3200" b="1" dirty="0"/>
              <a:t>Part 2: </a:t>
            </a:r>
            <a:r>
              <a:rPr lang="en-US" sz="3200" dirty="0"/>
              <a:t>Theoretical Basis &amp; Systems Analysis</a:t>
            </a:r>
          </a:p>
          <a:p>
            <a:r>
              <a:rPr lang="en-US" sz="3200" b="1" dirty="0"/>
              <a:t>Part 3: </a:t>
            </a:r>
            <a:r>
              <a:rPr lang="en-US" sz="3200" dirty="0"/>
              <a:t>Implementation</a:t>
            </a:r>
          </a:p>
          <a:p>
            <a:r>
              <a:rPr lang="en-US" sz="3200" b="1" dirty="0"/>
              <a:t>Part 4: </a:t>
            </a:r>
            <a:r>
              <a:rPr lang="en-US" sz="32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Google/vit-base-patch16-224-in21k </a:t>
            </a:r>
            <a:r>
              <a:rPr lang="en-US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Lightweight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Good for subtle details and complex textures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Dataset</a:t>
            </a:r>
            <a:r>
              <a:rPr lang="en-US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Sources</a:t>
            </a:r>
            <a:r>
              <a:rPr lang="en-US" dirty="0"/>
              <a:t>: iNaturalist, Kaggle, WildFoodUK, blogs.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Splits</a:t>
            </a:r>
            <a:r>
              <a:rPr lang="en-US" dirty="0"/>
              <a:t>: 80% train, 10% validate and 10% test.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Augmentation</a:t>
            </a:r>
            <a:r>
              <a:rPr lang="en-US" dirty="0"/>
              <a:t>: flips, rotate, brightness/contrast, hue/saturation, blur, noise, dropout,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Mushroom Identification 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History Workflow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77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Search 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Forage Map Workflow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Precision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Recall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696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AUC: </a:t>
                </a:r>
                <a:r>
                  <a:rPr lang="en-US" dirty="0"/>
                  <a:t>The ROC–AUC is computed independently for each class using a one-vs-rest strategy and then averaged equally across all classes. This ensures fair per-class evaluation in a balanced 80-class dataset.</a:t>
                </a:r>
              </a:p>
              <a:p>
                <a:endParaRPr lang="en-US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AUC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𝑇𝑃𝑅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𝐹𝑃𝑅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AUC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AUC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Model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3287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2719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ViT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ResNet-50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EfficientNetB4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dirty="0"/>
              <a:t>3.3. Mushroom Identification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History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Search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Forage Map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Low accuracy on certain classes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incomplete or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to other wild forageable.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better performance.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Improve the dataset and augmentation strategy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chatbot.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user-submitted observation to iNaturalist feature to the forage map.</a:t>
            </a:r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5740</TotalTime>
  <Words>1434</Words>
  <Application>Microsoft Office PowerPoint</Application>
  <PresentationFormat>Widescreen</PresentationFormat>
  <Paragraphs>217</Paragraphs>
  <Slides>29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2.4. System Architecture Overview</vt:lpstr>
      <vt:lpstr>2.5. Use Case Overview</vt:lpstr>
      <vt:lpstr>2.6. Mushroom Identification Workflow</vt:lpstr>
      <vt:lpstr>2.6. History Workflow</vt:lpstr>
      <vt:lpstr>2.6. Search Workflow</vt:lpstr>
      <vt:lpstr>2.6. Forage Map Workflow</vt:lpstr>
      <vt:lpstr>Part 3: Implementation</vt:lpstr>
      <vt:lpstr>3.1. Model Evaluation Metrics</vt:lpstr>
      <vt:lpstr>3.1. Model Evaluation Metrics</vt:lpstr>
      <vt:lpstr>3.1. Model Evaluation Metrics</vt:lpstr>
      <vt:lpstr>3.2. Model Results</vt:lpstr>
      <vt:lpstr>3.3. Mushroom Identification UI Implementation</vt:lpstr>
      <vt:lpstr>3.3. History UI Implementation</vt:lpstr>
      <vt:lpstr>3.3. Search UI Implementation</vt:lpstr>
      <vt:lpstr>3.3. Forage Map UI Implementation</vt:lpstr>
      <vt:lpstr>Part 4: Conclusion</vt:lpstr>
      <vt:lpstr>4.1. Achieved Results &amp; Limitations </vt:lpstr>
      <vt:lpstr>4.2. Development Direction 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504</cp:revision>
  <dcterms:created xsi:type="dcterms:W3CDTF">2022-07-01T08:15:51Z</dcterms:created>
  <dcterms:modified xsi:type="dcterms:W3CDTF">2025-12-18T06:31:49Z</dcterms:modified>
</cp:coreProperties>
</file>