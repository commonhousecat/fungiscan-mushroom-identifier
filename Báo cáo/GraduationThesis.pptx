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307" r:id="rId12"/>
    <p:sldId id="296" r:id="rId13"/>
    <p:sldId id="293" r:id="rId14"/>
    <p:sldId id="294" r:id="rId15"/>
    <p:sldId id="295" r:id="rId16"/>
    <p:sldId id="298" r:id="rId17"/>
    <p:sldId id="297" r:id="rId18"/>
    <p:sldId id="274" r:id="rId19"/>
    <p:sldId id="303" r:id="rId20"/>
    <p:sldId id="304" r:id="rId21"/>
    <p:sldId id="305" r:id="rId22"/>
    <p:sldId id="285" r:id="rId23"/>
    <p:sldId id="275" r:id="rId24"/>
    <p:sldId id="276" r:id="rId25"/>
    <p:sldId id="277" r:id="rId26"/>
    <p:sldId id="278" r:id="rId27"/>
    <p:sldId id="273" r:id="rId28"/>
    <p:sldId id="272" r:id="rId29"/>
    <p:sldId id="270" r:id="rId30"/>
    <p:sldId id="261" r:id="rId31"/>
    <p:sldId id="30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63075" autoAdjust="0"/>
  </p:normalViewPr>
  <p:slideViewPr>
    <p:cSldViewPr snapToGrid="0">
      <p:cViewPr varScale="1">
        <p:scale>
          <a:sx n="52" d="100"/>
          <a:sy n="52" d="100"/>
        </p:scale>
        <p:origin x="1810" y="4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20/12/2025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 everyone, I am Quang Vinh, thanks for coming to my thesis defense presentation today,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consists of 4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finally,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 1: Introduction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9962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It is known that Mushroom identification is a difficult task for beginners - due to how similar most species look, which can lead to possibly lethal errors EVEN with prior knowledge.</a:t>
            </a:r>
          </a:p>
          <a:p>
            <a:endParaRPr lang="en-US" dirty="0"/>
          </a:p>
          <a:p>
            <a:r>
              <a:rPr lang="en-US" dirty="0"/>
              <a:t>And with the increase in interest in foraging hobby, there has been demand for an accessible and beginner-friendly tool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That does not have the users dealing with an expensive subscription  or a restrictive freemium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which aims to develop a beginner-friendly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mushroom identification as well as promotes safe foraging practices, and self-learning.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Objectives of the thesis is to :</a:t>
            </a:r>
            <a:br>
              <a:rPr lang="en-US" dirty="0"/>
            </a:br>
            <a:r>
              <a:rPr lang="en-US" dirty="0"/>
              <a:t>1. Build an app that combine AI-based image identification with local storage</a:t>
            </a:r>
          </a:p>
          <a:p>
            <a:r>
              <a:rPr lang="en-US" dirty="0"/>
              <a:t>2.  a search feature and interactable forage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and  integrated with the iNaturalist API.</a:t>
            </a:r>
          </a:p>
          <a:p>
            <a:r>
              <a:rPr lang="en-US" dirty="0">
                <a:effectLst/>
              </a:rPr>
              <a:t>2. With server inference task done via PyTorch on Lightning.ai server</a:t>
            </a:r>
          </a:p>
          <a:p>
            <a:r>
              <a:rPr lang="en-US" dirty="0">
                <a:effectLst/>
              </a:rPr>
              <a:t>3. And local storage is handled by SQLite and bundled JSON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2: Theoretical Basis &amp; Systems Analysis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3732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Data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AI model</a:t>
            </a:r>
          </a:p>
          <a:p>
            <a:r>
              <a:rPr lang="en-US" dirty="0"/>
              <a:t>5. And FastAPI with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Google – Vit-base-patch16, pretrained on ImageNet-21k dataset:</a:t>
            </a:r>
          </a:p>
          <a:p>
            <a:pPr marL="228600" indent="-228600">
              <a:buAutoNum type="arabicPeriod"/>
            </a:pPr>
            <a:r>
              <a:rPr lang="en-US" dirty="0"/>
              <a:t>Chosen for being lightweight</a:t>
            </a:r>
          </a:p>
          <a:p>
            <a:pPr marL="228600" indent="-228600">
              <a:buAutoNum type="arabicPeriod"/>
            </a:pPr>
            <a:r>
              <a:rPr lang="en-US" dirty="0"/>
              <a:t>While offer good performance on identifying subtle detail and complex textures</a:t>
            </a:r>
          </a:p>
          <a:p>
            <a:pPr marL="228600" indent="-228600">
              <a:buAutoNum type="arabicPeriod"/>
            </a:pPr>
            <a:r>
              <a:rPr lang="en-US" dirty="0"/>
              <a:t>And below is the hyper parameter used when training the model</a:t>
            </a:r>
          </a:p>
          <a:p>
            <a:pPr marL="228600" indent="-228600"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low learning rate combined with data augmentation was used to improve generalization </a:t>
            </a:r>
            <a:r>
              <a:rPr lang="en-US"/>
              <a:t>which helped </a:t>
            </a:r>
            <a:r>
              <a:rPr lang="en-US" dirty="0"/>
              <a:t>to mitigate overfitting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consists of 80 classes with exactly 200 samples each 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 public dataset, WildFoodUK site and various other personal blogs.</a:t>
            </a:r>
          </a:p>
          <a:p>
            <a:pPr marL="228600" indent="-228600">
              <a:buAutoNum type="arabicPeriod" startAt="3"/>
            </a:pPr>
            <a:r>
              <a:rPr lang="en-US" dirty="0"/>
              <a:t>The images were first organized by mushroom class, then split into train, validate, and test sets using a Python script, with another script generate the CSV manifests for each set. </a:t>
            </a:r>
          </a:p>
          <a:p>
            <a:pPr marL="228600" indent="-228600">
              <a:buAutoNum type="arabicPeriod" startAt="3"/>
            </a:pPr>
            <a:r>
              <a:rPr lang="en-US" dirty="0"/>
              <a:t>The dataset is then uploaded to Kaggle, and data augmentation was applied to the train set during training to improve generalization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0EA0-7E60-D4F2-A068-362B9D660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750C94-953A-7724-51B2-420B8C4C9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5479ED-7277-5E73-612A-EC8F2410F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This is the table showing the data set partitioning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87263-799D-DF4D-BCD8-214805CD1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49896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architecture,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Mushroom identification feature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History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Workflow for  Search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 Forage map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3: Implementation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702856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Model is evaluated on the metric of precision, recall and F1 score for each of the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the average is calculated across all classes to ensure equal class contribution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AUC value also follows the same macro-averaging approach across all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result of the implementation has the ViT model perform consistently higher than all baseline models on the custom dataset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slides are result of the UI implementation for the Mushroom identification feature,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finally,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4: Conclusion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7515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end, the thesis </a:t>
            </a:r>
            <a:r>
              <a:rPr lang="en-US" dirty="0">
                <a:effectLst/>
              </a:rPr>
              <a:t>successfully delivered a beginner-friendly Android application that features: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A real-time image recognition with local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A Keyword-searchable mushroom feature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 API.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/>
              <a:t>As for the </a:t>
            </a:r>
            <a:r>
              <a:rPr lang="en-US" dirty="0">
                <a:effectLst/>
              </a:rPr>
              <a:t>limitations which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Low accuracy in several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 remain 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For future improvements, I plan to:</a:t>
            </a:r>
          </a:p>
          <a:p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noProof="0" dirty="0"/>
              <a:t>1. Expand the recognition feature to other wild edibles.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2. Use a larger ViT variant for better performance.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3. Improve the dataset and augmentation strategy to reduce overfitting.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4. Upgrade the keyword search feature to a chatbot.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5. Add a feature where user can submit observation to iNaturalist website to the forage map.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BCE23-C80B-D7FC-6919-206669B26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C2DD0-3F69-B189-1037-12BFD4EB4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F997C4-AD3E-7BF9-0B13-CF6C623FD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CC40-BC06-A989-4ABF-5ED81BC95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16158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20-Dec-25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20-Dec-25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sz="3500" b="1" dirty="0"/>
              <a:t>DEVELOPING A MUSHROOM IDENTIFICATION </a:t>
            </a:r>
          </a:p>
          <a:p>
            <a:r>
              <a:rPr lang="en-US" sz="3500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Part 1: </a:t>
            </a:r>
            <a:r>
              <a:rPr lang="en-US" sz="3200" dirty="0"/>
              <a:t>Introduction</a:t>
            </a:r>
          </a:p>
          <a:p>
            <a:r>
              <a:rPr lang="en-US" sz="3200" b="1" dirty="0"/>
              <a:t>Part 2: </a:t>
            </a:r>
            <a:r>
              <a:rPr lang="en-US" sz="3200" dirty="0"/>
              <a:t>Theoretical Basis &amp; Systems Analysis</a:t>
            </a:r>
          </a:p>
          <a:p>
            <a:r>
              <a:rPr lang="en-US" sz="3200" b="1" dirty="0"/>
              <a:t>Part 3: </a:t>
            </a:r>
            <a:r>
              <a:rPr lang="en-US" sz="3200" dirty="0"/>
              <a:t>Implementation</a:t>
            </a:r>
          </a:p>
          <a:p>
            <a:r>
              <a:rPr lang="en-US" sz="3200" b="1" dirty="0"/>
              <a:t>Part 4: </a:t>
            </a:r>
            <a:r>
              <a:rPr lang="en-US" sz="32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343"/>
            <a:ext cx="10515600" cy="435133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Google/vit-base-patch16-224-in21k </a:t>
            </a:r>
            <a:r>
              <a:rPr lang="en-US" sz="2000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Lightweight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Good for subtle details and complex textures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06E48A-0BAD-F6E7-59D6-C2173EF28D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12824881"/>
              </p:ext>
            </p:extLst>
          </p:nvPr>
        </p:nvGraphicFramePr>
        <p:xfrm>
          <a:off x="1275973" y="2817656"/>
          <a:ext cx="9640054" cy="335280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2203620">
                  <a:extLst>
                    <a:ext uri="{9D8B030D-6E8A-4147-A177-3AD203B41FA5}">
                      <a16:colId xmlns:a16="http://schemas.microsoft.com/office/drawing/2014/main" val="2889736020"/>
                    </a:ext>
                  </a:extLst>
                </a:gridCol>
                <a:gridCol w="7436434">
                  <a:extLst>
                    <a:ext uri="{9D8B030D-6E8A-4147-A177-3AD203B41FA5}">
                      <a16:colId xmlns:a16="http://schemas.microsoft.com/office/drawing/2014/main" val="1680935818"/>
                    </a:ext>
                  </a:extLst>
                </a:gridCol>
              </a:tblGrid>
              <a:tr h="258302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Variables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Value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86422208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Model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google/vit-base-patch16-224-in21k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71863379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Input Size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224x224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360425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Batch Size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64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52294266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Learning rate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3e-5 (ViT) and 1e-3 (classifier)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8349989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Decay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1e-4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0749885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Epoch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32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9192217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Scheduler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CosineAnnealingLR with T_max=10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8125614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Label smoothing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0.1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247352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Loss function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CrossEntropyLoss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3591981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Num classes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80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27478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300" b="1" dirty="0"/>
              <a:t>Dataset</a:t>
            </a:r>
            <a:r>
              <a:rPr lang="en-US" sz="2300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300" b="1" dirty="0"/>
              <a:t>Sources</a:t>
            </a:r>
            <a:r>
              <a:rPr lang="en-US" sz="2300" dirty="0"/>
              <a:t>: iNaturalist, Kaggle, WildFoodUK, blogs.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4BFB66F-C661-4B07-2C76-282B2DD2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854" y="3126578"/>
            <a:ext cx="6876292" cy="305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66E57-B426-C58D-DE63-B32469EAC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F2DB8-4E5C-BF74-8D27-B0F20504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22F8104-0DB7-FBDA-4E0F-E84989CED4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7105414"/>
              </p:ext>
            </p:extLst>
          </p:nvPr>
        </p:nvGraphicFramePr>
        <p:xfrm>
          <a:off x="2236259" y="1993416"/>
          <a:ext cx="7719482" cy="28711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6717">
                  <a:extLst>
                    <a:ext uri="{9D8B030D-6E8A-4147-A177-3AD203B41FA5}">
                      <a16:colId xmlns:a16="http://schemas.microsoft.com/office/drawing/2014/main" val="2240279134"/>
                    </a:ext>
                  </a:extLst>
                </a:gridCol>
                <a:gridCol w="1353570">
                  <a:extLst>
                    <a:ext uri="{9D8B030D-6E8A-4147-A177-3AD203B41FA5}">
                      <a16:colId xmlns:a16="http://schemas.microsoft.com/office/drawing/2014/main" val="495911637"/>
                    </a:ext>
                  </a:extLst>
                </a:gridCol>
                <a:gridCol w="1820591">
                  <a:extLst>
                    <a:ext uri="{9D8B030D-6E8A-4147-A177-3AD203B41FA5}">
                      <a16:colId xmlns:a16="http://schemas.microsoft.com/office/drawing/2014/main" val="275072653"/>
                    </a:ext>
                  </a:extLst>
                </a:gridCol>
                <a:gridCol w="1503966">
                  <a:extLst>
                    <a:ext uri="{9D8B030D-6E8A-4147-A177-3AD203B41FA5}">
                      <a16:colId xmlns:a16="http://schemas.microsoft.com/office/drawing/2014/main" val="3996886480"/>
                    </a:ext>
                  </a:extLst>
                </a:gridCol>
                <a:gridCol w="2024638">
                  <a:extLst>
                    <a:ext uri="{9D8B030D-6E8A-4147-A177-3AD203B41FA5}">
                      <a16:colId xmlns:a16="http://schemas.microsoft.com/office/drawing/2014/main" val="2662914666"/>
                    </a:ext>
                  </a:extLst>
                </a:gridCol>
              </a:tblGrid>
              <a:tr h="3190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Set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Percentage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Image per class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Total images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Purpose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63642785"/>
                  </a:ext>
                </a:extLst>
              </a:tr>
              <a:tr h="95705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Train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80%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12800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Training the model with data augmentation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0446426"/>
                  </a:ext>
                </a:extLst>
              </a:tr>
              <a:tr h="638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Validate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20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Monitoring training results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57377887"/>
                  </a:ext>
                </a:extLst>
              </a:tr>
              <a:tr h="638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Test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20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Final performance evaluation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03316597"/>
                  </a:ext>
                </a:extLst>
              </a:tr>
              <a:tr h="3190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Total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200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16000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 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9880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894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Mushroom Identification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History Workflow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Search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Forage Map Workflow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The ROC–AUC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Model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ViT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ResNet-50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EfficientNetB4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3.3. Mushroom Identification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History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Search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Forage Map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 accuracy in several classes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feature to other wild forageables.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better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Improve the dataset and augmentation strategy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chatbot.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a feature where user can submit observation to iNaturalist website to the forage map.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25317-7563-3742-56E3-D4D68BCA2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C3D51-2F8E-3664-E67F-DD177BD356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E7C992-5FD4-38D9-A816-289F989329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3093099"/>
          </a:xfrm>
        </p:spPr>
        <p:txBody>
          <a:bodyPr>
            <a:normAutofit/>
          </a:bodyPr>
          <a:lstStyle/>
          <a:p>
            <a:r>
              <a:rPr lang="en-US" dirty="0"/>
              <a:t>Demo </a:t>
            </a:r>
            <a:r>
              <a:rPr lang="en-US" dirty="0" err="1"/>
              <a:t>phần</a:t>
            </a:r>
            <a:r>
              <a:rPr lang="en-US" dirty="0"/>
              <a:t> IR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2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1 </a:t>
            </a:r>
            <a:r>
              <a:rPr lang="en-US" dirty="0" err="1"/>
              <a:t>ảnh</a:t>
            </a:r>
            <a:r>
              <a:rPr lang="en-US" dirty="0"/>
              <a:t> ko 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đc</a:t>
            </a:r>
            <a:endParaRPr lang="en-US" dirty="0"/>
          </a:p>
          <a:p>
            <a:r>
              <a:rPr lang="en-US" dirty="0"/>
              <a:t>Phần history </a:t>
            </a:r>
            <a:r>
              <a:rPr lang="en-US" dirty="0" err="1"/>
              <a:t>thì</a:t>
            </a:r>
            <a:r>
              <a:rPr lang="en-US" dirty="0"/>
              <a:t> show </a:t>
            </a:r>
            <a:r>
              <a:rPr lang="en-US" dirty="0" err="1"/>
              <a:t>lẹ</a:t>
            </a:r>
            <a:r>
              <a:rPr lang="en-US" dirty="0"/>
              <a:t> do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</a:p>
          <a:p>
            <a:r>
              <a:rPr lang="en-US" dirty="0"/>
              <a:t>Phần search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show </a:t>
            </a:r>
            <a:r>
              <a:rPr lang="en-US" dirty="0" err="1"/>
              <a:t>lẹ</a:t>
            </a:r>
            <a:r>
              <a:rPr lang="en-US" dirty="0"/>
              <a:t> </a:t>
            </a:r>
          </a:p>
          <a:p>
            <a:r>
              <a:rPr lang="en-US" dirty="0"/>
              <a:t>Phần map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/>
              <a:t>chắc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55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5896</TotalTime>
  <Words>1634</Words>
  <Application>Microsoft Office PowerPoint</Application>
  <PresentationFormat>Widescreen</PresentationFormat>
  <Paragraphs>288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2.3. Dataset &amp; Augmentation</vt:lpstr>
      <vt:lpstr>2.4. System Architecture Overview</vt:lpstr>
      <vt:lpstr>2.5. Use Case Overview</vt:lpstr>
      <vt:lpstr>2.6. Mushroom Identification Workflow</vt:lpstr>
      <vt:lpstr>2.6. History Workflow</vt:lpstr>
      <vt:lpstr>2.6. Search Workflow</vt:lpstr>
      <vt:lpstr>2.6. Forage Map Workflow</vt:lpstr>
      <vt:lpstr>Part 3: Implementation</vt:lpstr>
      <vt:lpstr>3.1. Model Evaluation Metrics</vt:lpstr>
      <vt:lpstr>3.1. Model Evaluation Metrics</vt:lpstr>
      <vt:lpstr>3.1. Model Evaluation Metrics</vt:lpstr>
      <vt:lpstr>3.2. Model Results</vt:lpstr>
      <vt:lpstr>3.3. Mushroom Identification UI Implementation</vt:lpstr>
      <vt:lpstr>3.3. History UI Implementation</vt:lpstr>
      <vt:lpstr>3.3. Search UI Implementation</vt:lpstr>
      <vt:lpstr>3.3. Forage Map UI Implementation</vt:lpstr>
      <vt:lpstr>Part 4: Conclusion</vt:lpstr>
      <vt:lpstr>4.1. Achieved Results &amp; Limitations </vt:lpstr>
      <vt:lpstr>4.2. Development Direction </vt:lpstr>
      <vt:lpstr>THANK YOU VERY MUCH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548</cp:revision>
  <dcterms:created xsi:type="dcterms:W3CDTF">2022-07-01T08:15:51Z</dcterms:created>
  <dcterms:modified xsi:type="dcterms:W3CDTF">2025-12-20T05:37:01Z</dcterms:modified>
</cp:coreProperties>
</file>