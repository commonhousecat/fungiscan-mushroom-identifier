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296" r:id="rId12"/>
    <p:sldId id="293" r:id="rId13"/>
    <p:sldId id="294" r:id="rId14"/>
    <p:sldId id="295" r:id="rId15"/>
    <p:sldId id="298" r:id="rId16"/>
    <p:sldId id="297" r:id="rId17"/>
    <p:sldId id="274" r:id="rId18"/>
    <p:sldId id="303" r:id="rId19"/>
    <p:sldId id="304" r:id="rId20"/>
    <p:sldId id="305" r:id="rId21"/>
    <p:sldId id="285" r:id="rId22"/>
    <p:sldId id="275" r:id="rId23"/>
    <p:sldId id="276" r:id="rId24"/>
    <p:sldId id="277" r:id="rId25"/>
    <p:sldId id="278" r:id="rId26"/>
    <p:sldId id="273" r:id="rId27"/>
    <p:sldId id="272" r:id="rId28"/>
    <p:sldId id="270" r:id="rId29"/>
    <p:sldId id="26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5033" autoAdjust="0"/>
  </p:normalViewPr>
  <p:slideViewPr>
    <p:cSldViewPr snapToGrid="0">
      <p:cViewPr varScale="1">
        <p:scale>
          <a:sx n="111" d="100"/>
          <a:sy n="111" d="100"/>
        </p:scale>
        <p:origin x="516" y="78"/>
      </p:cViewPr>
      <p:guideLst/>
    </p:cSldViewPr>
  </p:slideViewPr>
  <p:notesTextViewPr>
    <p:cViewPr>
      <p:scale>
        <a:sx n="3" d="2"/>
        <a:sy n="3" d="2"/>
      </p:scale>
      <p:origin x="0" y="-1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17/12/2025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Hello everyone, I am Quang Vinh, thanks for coming to my thesis defense presentation today, which is titled: “Developing a Mushroom Identification Application. Advised by Dr. BVQB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555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The presentation is organized into four parts:</a:t>
            </a:r>
          </a:p>
          <a:p>
            <a:r>
              <a:rPr lang="en-US" dirty="0"/>
              <a:t>1. The Introduction</a:t>
            </a:r>
          </a:p>
          <a:p>
            <a:r>
              <a:rPr lang="en-US" dirty="0"/>
              <a:t>2. Then Theoretical basis and systems analysis</a:t>
            </a:r>
          </a:p>
          <a:p>
            <a:r>
              <a:rPr lang="en-US" dirty="0"/>
              <a:t>3. Then Implementation</a:t>
            </a:r>
          </a:p>
          <a:p>
            <a:r>
              <a:rPr lang="en-US" dirty="0"/>
              <a:t>4. And the Conclusion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Mushroom identification is known to be a difficult task for beginners - due how similar most species look, which can lead to possibly errors EVEN with prior knowledge.</a:t>
            </a:r>
          </a:p>
          <a:p>
            <a:endParaRPr lang="en-US" dirty="0"/>
          </a:p>
          <a:p>
            <a:r>
              <a:rPr lang="en-US" dirty="0"/>
              <a:t>And with the increase in interest for foraging hobby, there has been demand for accessible and beginner friendly tools</a:t>
            </a:r>
          </a:p>
          <a:p>
            <a:r>
              <a:rPr lang="en-US" dirty="0"/>
              <a:t>| |</a:t>
            </a:r>
          </a:p>
          <a:p>
            <a:r>
              <a:rPr lang="en-US" dirty="0"/>
              <a:t>without an expensive subscription model or the restrictive freemium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And thus spawn this thesis which aims to develop a beginner-friendly Android application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| 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that supports mushroom identification and also promotes safe foraging practices, and self-learning for the hobby.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Objectives:</a:t>
            </a:r>
            <a:br>
              <a:rPr lang="en-US" dirty="0"/>
            </a:br>
            <a:r>
              <a:rPr lang="en-US" dirty="0"/>
              <a:t>1. Build an app that combine AI-based image identification that stored inferred result locally </a:t>
            </a:r>
          </a:p>
          <a:p>
            <a:r>
              <a:rPr lang="en-US" dirty="0"/>
              <a:t>2. with a search feature and interactable map DELIVERED with a fast client-server architecture and intuitive UI/UX</a:t>
            </a:r>
          </a:p>
          <a:p>
            <a:endParaRPr lang="en-US" dirty="0"/>
          </a:p>
          <a:p>
            <a:r>
              <a:rPr lang="en-US" dirty="0"/>
              <a:t>As for the scope: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1. The application is built with Flutter and  integrated with the iNaturalist API.</a:t>
            </a:r>
          </a:p>
          <a:p>
            <a:r>
              <a:rPr lang="en-US" dirty="0">
                <a:effectLst/>
              </a:rPr>
              <a:t>2. With server inference via PyTorch and Lightning.ai</a:t>
            </a:r>
          </a:p>
          <a:p>
            <a:r>
              <a:rPr lang="en-US" dirty="0">
                <a:effectLst/>
              </a:rPr>
              <a:t>3. And local storage handled by SQLite and bundled JSON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Key technologies employed include:</a:t>
            </a:r>
          </a:p>
          <a:p>
            <a:r>
              <a:rPr lang="en-US" dirty="0"/>
              <a:t>1. Flutter and Dart for the UI </a:t>
            </a:r>
          </a:p>
          <a:p>
            <a:r>
              <a:rPr lang="en-US" dirty="0"/>
              <a:t>2. SQLite and JSON for local storage </a:t>
            </a:r>
          </a:p>
          <a:p>
            <a:r>
              <a:rPr lang="en-US" dirty="0"/>
              <a:t>3. OpenStreetMap (via </a:t>
            </a:r>
            <a:r>
              <a:rPr lang="af-Z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CARTO Basemap)</a:t>
            </a:r>
            <a:r>
              <a:rPr lang="en-US" dirty="0"/>
              <a:t> with the iNaturalist API for the interactive map feature</a:t>
            </a:r>
          </a:p>
          <a:p>
            <a:r>
              <a:rPr lang="en-US" dirty="0"/>
              <a:t>4. PyTorch and Kaggle for training and testing the AI model</a:t>
            </a:r>
          </a:p>
          <a:p>
            <a:r>
              <a:rPr lang="en-US" dirty="0"/>
              <a:t>5. And FastAPI with LitServe on Lightning.ai for deploying the AI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used is Google – Vit-base-patch16, pretrained on ImageNet-21k dataset:</a:t>
            </a:r>
          </a:p>
          <a:p>
            <a:pPr marL="228600" indent="-228600">
              <a:buAutoNum type="arabicPeriod"/>
            </a:pPr>
            <a:r>
              <a:rPr lang="en-US" dirty="0"/>
              <a:t>Chosen for being lightweight</a:t>
            </a:r>
          </a:p>
          <a:p>
            <a:pPr marL="228600" indent="-228600">
              <a:buAutoNum type="arabicPeriod"/>
            </a:pPr>
            <a:r>
              <a:rPr lang="en-US" dirty="0"/>
              <a:t>While offer good performance on identifying subtle details and complex textures</a:t>
            </a:r>
          </a:p>
          <a:p>
            <a:pPr marL="228600" indent="-228600">
              <a:buAutoNum type="arabicPeriod"/>
            </a:pPr>
            <a:r>
              <a:rPr lang="en-US" dirty="0"/>
              <a:t>And delivers better results compare to the 3 CNN models used as the baseline on the custom dataset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dataset consists of 80 classes with 200 samples each resulting in exactly 16,000 samples total</a:t>
            </a:r>
          </a:p>
          <a:p>
            <a:pPr marL="228600" indent="-228600">
              <a:buAutoNum type="arabicPeriod"/>
            </a:pPr>
            <a:r>
              <a:rPr lang="en-US" dirty="0"/>
              <a:t>Sourced mostly from iNaturalist with the rest coming from Kaggle, WildFoodUK site and various other personal blogs.</a:t>
            </a:r>
          </a:p>
          <a:p>
            <a:pPr marL="228600" indent="-228600">
              <a:buAutoNum type="arabicPeriod"/>
            </a:pPr>
            <a:r>
              <a:rPr lang="en-US" dirty="0"/>
              <a:t>The Dataset is split with the ratio 8:1:1 for the training, validation and test set respectively</a:t>
            </a:r>
          </a:p>
          <a:p>
            <a:pPr marL="228600" indent="-228600">
              <a:buAutoNum type="arabicPeriod"/>
            </a:pPr>
            <a:r>
              <a:rPr lang="en-US" dirty="0"/>
              <a:t>Augmentation is applied to the train set just before training to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improve generalization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subsequence slides show the overview of the system architecture, uses case and the workflow of the main features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identification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Search feature workflow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Forage map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Model is evaluated on precision, recall and F1 score for each </a:t>
            </a:r>
            <a:r>
              <a:rPr lang="en-US"/>
              <a:t>of the80 </a:t>
            </a:r>
            <a:r>
              <a:rPr lang="en-US" dirty="0"/>
              <a:t>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88247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the average is calculated across all classes to ensure equal class contribution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40636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AUC follows the same macro-averaging approach across all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08930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 of the implementation the Vision transformer model achieved consistently higher scores than all baseline models used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3125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slides are result of the UI implementation for the Mushroom identification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3648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309275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4757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finally the forage map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61504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ACHIVED: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conclusion the thesis </a:t>
            </a:r>
            <a:r>
              <a:rPr lang="en-US" dirty="0">
                <a:effectLst/>
              </a:rPr>
              <a:t>successfully delivered a beginner-friendly Android application that features: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1. real-time image recognition with local result storage,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2. keyword-searchable mushroom feature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3. and an interactive map integrated with iNaturalist.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LIMITATIONS:</a:t>
            </a:r>
            <a:br>
              <a:rPr lang="en-US" dirty="0"/>
            </a:br>
            <a:r>
              <a:rPr lang="en-US" dirty="0"/>
              <a:t>As for the </a:t>
            </a:r>
            <a:r>
              <a:rPr lang="en-US" dirty="0">
                <a:effectLst/>
              </a:rPr>
              <a:t>limitations which include: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 relatively constrained dataset,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incomplete mitigation of overfitting,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low accuracy on certain classes,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Finally, some features remaining underdeveloped.</a:t>
            </a:r>
          </a:p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For future improvements, I plan to:</a:t>
            </a:r>
          </a:p>
          <a:p>
            <a:endParaRPr lang="en-US" dirty="0">
              <a:effectLst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noProof="0" dirty="0"/>
              <a:t>1. Expand recognition to more wild edibles.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2. Use larger ViT variants for better performance.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3. Improve the dataset and augmentation strategy to reduce overfitting.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4. Upgrade keyword search to a chatbot.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5. Add user-submitted observation to iNaturalist feature to the forage map.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05651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17-Dec-25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sz="3500" b="1" dirty="0"/>
              <a:t>DEVELOPING A MUSHROOM IDENTIFICATION </a:t>
            </a:r>
          </a:p>
          <a:p>
            <a:r>
              <a:rPr lang="en-US" sz="3500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791296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1: Introduction</a:t>
            </a:r>
          </a:p>
          <a:p>
            <a:r>
              <a:rPr lang="en-US" dirty="0"/>
              <a:t>Part 2: Theoretical basis &amp; systems analysis</a:t>
            </a:r>
          </a:p>
          <a:p>
            <a:r>
              <a:rPr lang="en-US" dirty="0"/>
              <a:t>Part 3: Implementation</a:t>
            </a:r>
          </a:p>
          <a:p>
            <a:r>
              <a:rPr lang="en-US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dirty="0"/>
              <a:t>The primary purpose of this study is to develop a beginner-friendly Android application that supports safe mushroom identification, promotes safe foraging practices and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client-server architecture with intuitive UI/UX.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 dataset.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Kaggle</a:t>
            </a:r>
            <a:r>
              <a:rPr lang="en-US" dirty="0"/>
              <a:t>: Training and testing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Deploying and serving the model.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Google/vit-base-patch16-224-in21k </a:t>
            </a:r>
            <a:r>
              <a:rPr lang="en-US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Lightweight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Good for subtle details and complex textures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Higher accuracy than ResNet-50, EfficientNet, and MobileNet on the custom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Dataset</a:t>
            </a:r>
            <a:r>
              <a:rPr lang="en-US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Sources</a:t>
            </a:r>
            <a:r>
              <a:rPr lang="en-US" dirty="0"/>
              <a:t>: iNaturalist, Kaggle, WildFoodUK, blogs.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Splits</a:t>
            </a:r>
            <a:r>
              <a:rPr lang="en-US" dirty="0"/>
              <a:t>: 80% training, 10% validation, 10% test.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Augmentation</a:t>
            </a:r>
            <a:r>
              <a:rPr lang="en-US" dirty="0"/>
              <a:t>: flips, rotate, brightness/contrast, hue/saturation, blur, noise, dropout,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2FD50-629A-D1D1-585A-C5E7813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347076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Mushroom Identification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History Workflows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77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Search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Forage Map Workflows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5359-346D-3DD0-1733-095C8838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3877-45FE-0949-5D12-36B2B3D8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Precision: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correct predictions among samples predicted as class i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Precision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 algn="l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b="1" dirty="0"/>
                  <a:t>Recall: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class i samples correctly identified.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Recall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F1 Score</a:t>
                </a:r>
                <a:r>
                  <a:rPr lang="en-US" dirty="0"/>
                  <a:t>: </a:t>
                </a:r>
                <a:r>
                  <a:rPr lang="en-US" altLang="en-US" dirty="0">
                    <a:latin typeface="Arial" panose="020B0604020202020204" pitchFamily="34" charset="0"/>
                  </a:rPr>
                  <a:t>Harmonic mean of precision and recall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696" t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9026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2E6A-B928-B2FD-555C-485CD9CD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CC0-5FD0-12BC-2995-CE8A31E93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metrics: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Metrics are computed per class and averaged equally across all classes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Precision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Recall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182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6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1A057-A2D0-F604-E373-521794905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55D80-0C88-C2C7-358D-4C49F19E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AUC: </a:t>
                </a:r>
                <a:r>
                  <a:rPr lang="en-US" dirty="0"/>
                  <a:t>The ROC–AUC is computed independently for each class using a one-vs-rest strategy and then averaged equally across all classes. This ensures fair per-class evaluation in a balanced 80-class dataset.</a:t>
                </a:r>
              </a:p>
              <a:p>
                <a:endParaRPr lang="en-US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AUC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𝑇𝑃𝑅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𝐹𝑃𝑅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AUC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AUC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980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0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Model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4BF7F-9435-56A2-2A81-A5122675D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3287"/>
              </p:ext>
            </p:extLst>
          </p:nvPr>
        </p:nvGraphicFramePr>
        <p:xfrm>
          <a:off x="2189205" y="2391736"/>
          <a:ext cx="7813590" cy="2074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2362">
                  <a:extLst>
                    <a:ext uri="{9D8B030D-6E8A-4147-A177-3AD203B41FA5}">
                      <a16:colId xmlns:a16="http://schemas.microsoft.com/office/drawing/2014/main" val="4012711610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3860952815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425341877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2034881795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1021626201"/>
                    </a:ext>
                  </a:extLst>
                </a:gridCol>
              </a:tblGrid>
              <a:tr h="52719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Model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Precision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Recall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F1 Score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AUC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3809424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ViT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0.89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0.998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00034942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ResNet-50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0.997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0633010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EfficientNetB4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0.996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396875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MobileNetV3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42403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dirty="0"/>
              <a:t>3.3. Mushroom Identification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History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Search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Forage Map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CURRENT 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</a:t>
            </a:r>
            <a:r>
              <a:rPr lang="en-US" dirty="0"/>
              <a:t>, </a:t>
            </a:r>
            <a:r>
              <a:rPr lang="en-US" noProof="0" dirty="0"/>
              <a:t>overfitting not fully mitigated.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current ViT model has yet achieved desired accuracy on all classes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incomplete or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to more wild edibles.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better performance.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Improve the dataset and augmentation strategy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chatbot.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user-submitted observation to iNaturalist feature to the forage map.</a:t>
            </a:r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5704</TotalTime>
  <Words>1454</Words>
  <Application>Microsoft Office PowerPoint</Application>
  <PresentationFormat>Widescreen</PresentationFormat>
  <Paragraphs>224</Paragraphs>
  <Slides>29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Aptos</vt:lpstr>
      <vt:lpstr>Arial</vt:lpstr>
      <vt:lpstr>Barlow</vt:lpstr>
      <vt:lpstr>Cambria Math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2.4. System Architecture Overview</vt:lpstr>
      <vt:lpstr>2.5. Use Case Overview</vt:lpstr>
      <vt:lpstr>2.6. Mushroom Identification Workflows</vt:lpstr>
      <vt:lpstr>2.6. History Workflows</vt:lpstr>
      <vt:lpstr>2.6. Search Workflows</vt:lpstr>
      <vt:lpstr>2.6. Forage Map Workflows</vt:lpstr>
      <vt:lpstr>Part 3: Implementation</vt:lpstr>
      <vt:lpstr>3.1. Model Evaluation Metrics</vt:lpstr>
      <vt:lpstr>3.1. Model Evaluation Metrics</vt:lpstr>
      <vt:lpstr>3.1. Model Evaluation Metrics</vt:lpstr>
      <vt:lpstr>3.2. Model Results</vt:lpstr>
      <vt:lpstr>3.3. Mushroom Identification UI Implementation</vt:lpstr>
      <vt:lpstr>3.3. History UI Implementation</vt:lpstr>
      <vt:lpstr>3.3. Search UI Implementation</vt:lpstr>
      <vt:lpstr>3.3. Forage Map UI Implementation</vt:lpstr>
      <vt:lpstr>Part 4: Conclusion</vt:lpstr>
      <vt:lpstr>4.1. Achieved Results &amp; Limitations </vt:lpstr>
      <vt:lpstr>4.2. Development Direction 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487</cp:revision>
  <dcterms:created xsi:type="dcterms:W3CDTF">2022-07-01T08:15:51Z</dcterms:created>
  <dcterms:modified xsi:type="dcterms:W3CDTF">2025-12-17T13:16:16Z</dcterms:modified>
</cp:coreProperties>
</file>